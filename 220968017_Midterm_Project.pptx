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0" r:id="rId5"/>
    <p:sldId id="261" r:id="rId6"/>
    <p:sldId id="262" r:id="rId7"/>
    <p:sldId id="274" r:id="rId8"/>
    <p:sldId id="264" r:id="rId9"/>
    <p:sldId id="265" r:id="rId10"/>
    <p:sldId id="275" r:id="rId11"/>
    <p:sldId id="267" r:id="rId12"/>
    <p:sldId id="268" r:id="rId13"/>
    <p:sldId id="259" r:id="rId1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p:cViewPr varScale="1">
        <p:scale>
          <a:sx n="160" d="100"/>
          <a:sy n="160" d="100"/>
        </p:scale>
        <p:origin x="1080"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2050" b="1" i="0">
                <a:solidFill>
                  <a:schemeClr val="tx1"/>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5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50" b="1" i="0">
                <a:solidFill>
                  <a:schemeClr val="tx1"/>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5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252798" y="2856039"/>
            <a:ext cx="300645" cy="359956"/>
          </a:xfrm>
          <a:prstGeom prst="rect">
            <a:avLst/>
          </a:prstGeom>
        </p:spPr>
      </p:pic>
      <p:pic>
        <p:nvPicPr>
          <p:cNvPr id="17" name="bg object 17"/>
          <p:cNvPicPr/>
          <p:nvPr/>
        </p:nvPicPr>
        <p:blipFill>
          <a:blip r:embed="rId3" cstate="print"/>
          <a:stretch>
            <a:fillRect/>
          </a:stretch>
        </p:blipFill>
        <p:spPr>
          <a:xfrm>
            <a:off x="0" y="-4"/>
            <a:ext cx="4608060" cy="311257"/>
          </a:xfrm>
          <a:prstGeom prst="rect">
            <a:avLst/>
          </a:prstGeom>
        </p:spPr>
      </p:pic>
      <p:sp>
        <p:nvSpPr>
          <p:cNvPr id="2" name="Holder 2"/>
          <p:cNvSpPr>
            <a:spLocks noGrp="1"/>
          </p:cNvSpPr>
          <p:nvPr>
            <p:ph type="ftr" sz="quarter" idx="5"/>
          </p:nvPr>
        </p:nvSpPr>
        <p:spPr/>
        <p:txBody>
          <a:bodyPr lIns="0" tIns="0" rIns="0" bIns="0"/>
          <a:lstStyle>
            <a:lvl1pPr>
              <a:defRPr sz="600" b="1" i="0">
                <a:solidFill>
                  <a:schemeClr val="bg1"/>
                </a:solidFill>
                <a:latin typeface="Arial"/>
                <a:cs typeface="Arial"/>
              </a:defRPr>
            </a:lvl1p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4252798" y="2856039"/>
            <a:ext cx="300645" cy="359956"/>
          </a:xfrm>
          <a:prstGeom prst="rect">
            <a:avLst/>
          </a:prstGeom>
        </p:spPr>
      </p:pic>
      <p:sp>
        <p:nvSpPr>
          <p:cNvPr id="2" name="Holder 2"/>
          <p:cNvSpPr>
            <a:spLocks noGrp="1"/>
          </p:cNvSpPr>
          <p:nvPr>
            <p:ph type="title"/>
          </p:nvPr>
        </p:nvSpPr>
        <p:spPr>
          <a:xfrm>
            <a:off x="359994" y="1312092"/>
            <a:ext cx="3989704" cy="284480"/>
          </a:xfrm>
          <a:prstGeom prst="rect">
            <a:avLst/>
          </a:prstGeom>
        </p:spPr>
        <p:txBody>
          <a:bodyPr wrap="square" lIns="0" tIns="0" rIns="0" bIns="0">
            <a:spAutoFit/>
          </a:bodyPr>
          <a:lstStyle>
            <a:lvl1pPr>
              <a:defRPr sz="2050" b="1" i="0">
                <a:solidFill>
                  <a:schemeClr val="tx1"/>
                </a:solidFill>
                <a:latin typeface="Arial"/>
                <a:cs typeface="Arial"/>
              </a:defRPr>
            </a:lvl1pPr>
          </a:lstStyle>
          <a:p>
            <a:endParaRPr/>
          </a:p>
        </p:txBody>
      </p:sp>
      <p:sp>
        <p:nvSpPr>
          <p:cNvPr id="3" name="Holder 3"/>
          <p:cNvSpPr>
            <a:spLocks noGrp="1"/>
          </p:cNvSpPr>
          <p:nvPr>
            <p:ph type="body" idx="1"/>
          </p:nvPr>
        </p:nvSpPr>
        <p:spPr>
          <a:xfrm>
            <a:off x="624395" y="633384"/>
            <a:ext cx="2321560" cy="2125980"/>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95300" y="3344944"/>
            <a:ext cx="2108835" cy="104139"/>
          </a:xfrm>
          <a:prstGeom prst="rect">
            <a:avLst/>
          </a:prstGeom>
        </p:spPr>
        <p:txBody>
          <a:bodyPr wrap="square" lIns="0" tIns="0" rIns="0" bIns="0">
            <a:spAutoFit/>
          </a:bodyPr>
          <a:lstStyle>
            <a:lvl1pPr>
              <a:defRPr sz="600" b="1" i="0">
                <a:solidFill>
                  <a:schemeClr val="bg1"/>
                </a:solidFill>
                <a:latin typeface="Arial"/>
                <a:cs typeface="Arial"/>
              </a:defRPr>
            </a:lvl1p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50800"/>
          </a:xfrm>
          <a:custGeom>
            <a:avLst/>
            <a:gdLst/>
            <a:ahLst/>
            <a:cxnLst/>
            <a:rect l="l" t="t" r="r" b="b"/>
            <a:pathLst>
              <a:path w="4608195" h="50800">
                <a:moveTo>
                  <a:pt x="4608060" y="0"/>
                </a:moveTo>
                <a:lnTo>
                  <a:pt x="0" y="0"/>
                </a:lnTo>
                <a:lnTo>
                  <a:pt x="0" y="50610"/>
                </a:lnTo>
                <a:lnTo>
                  <a:pt x="4608060" y="50610"/>
                </a:lnTo>
                <a:lnTo>
                  <a:pt x="4608060" y="0"/>
                </a:lnTo>
                <a:close/>
              </a:path>
            </a:pathLst>
          </a:custGeom>
          <a:solidFill>
            <a:srgbClr val="000000"/>
          </a:solidFill>
        </p:spPr>
        <p:txBody>
          <a:bodyPr wrap="square" lIns="0" tIns="0" rIns="0" bIns="0" rtlCol="0"/>
          <a:lstStyle/>
          <a:p>
            <a:endParaRPr/>
          </a:p>
        </p:txBody>
      </p:sp>
      <p:grpSp>
        <p:nvGrpSpPr>
          <p:cNvPr id="3" name="object 3"/>
          <p:cNvGrpSpPr/>
          <p:nvPr/>
        </p:nvGrpSpPr>
        <p:grpSpPr>
          <a:xfrm>
            <a:off x="-23259" y="473000"/>
            <a:ext cx="4495800" cy="479618"/>
            <a:chOff x="309193" y="532294"/>
            <a:chExt cx="4040504" cy="300355"/>
          </a:xfrm>
        </p:grpSpPr>
        <p:sp>
          <p:nvSpPr>
            <p:cNvPr id="4" name="object 4"/>
            <p:cNvSpPr/>
            <p:nvPr/>
          </p:nvSpPr>
          <p:spPr>
            <a:xfrm>
              <a:off x="309193" y="532294"/>
              <a:ext cx="3989704" cy="82550"/>
            </a:xfrm>
            <a:custGeom>
              <a:avLst/>
              <a:gdLst/>
              <a:ahLst/>
              <a:cxnLst/>
              <a:rect l="l" t="t" r="r" b="b"/>
              <a:pathLst>
                <a:path w="3989704" h="82550">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E9E9F2"/>
            </a:solidFill>
          </p:spPr>
          <p:txBody>
            <a:bodyPr wrap="square" lIns="0" tIns="0" rIns="0" bIns="0" rtlCol="0"/>
            <a:lstStyle/>
            <a:p>
              <a:endParaRPr/>
            </a:p>
          </p:txBody>
        </p:sp>
        <p:sp>
          <p:nvSpPr>
            <p:cNvPr id="5" name="object 5"/>
            <p:cNvSpPr/>
            <p:nvPr/>
          </p:nvSpPr>
          <p:spPr>
            <a:xfrm>
              <a:off x="359994" y="595561"/>
              <a:ext cx="3989704" cy="236854"/>
            </a:xfrm>
            <a:custGeom>
              <a:avLst/>
              <a:gdLst/>
              <a:ahLst/>
              <a:cxnLst/>
              <a:rect l="l" t="t" r="r" b="b"/>
              <a:pathLst>
                <a:path w="3989704" h="236855">
                  <a:moveTo>
                    <a:pt x="3989652" y="0"/>
                  </a:moveTo>
                  <a:lnTo>
                    <a:pt x="0" y="0"/>
                  </a:lnTo>
                  <a:lnTo>
                    <a:pt x="0" y="236658"/>
                  </a:lnTo>
                  <a:lnTo>
                    <a:pt x="3989652" y="236658"/>
                  </a:lnTo>
                  <a:lnTo>
                    <a:pt x="3989652" y="0"/>
                  </a:lnTo>
                  <a:close/>
                </a:path>
              </a:pathLst>
            </a:custGeom>
            <a:solidFill>
              <a:srgbClr val="000000"/>
            </a:solidFill>
          </p:spPr>
          <p:txBody>
            <a:bodyPr wrap="square" lIns="0" tIns="0" rIns="0" bIns="0" rtlCol="0"/>
            <a:lstStyle/>
            <a:p>
              <a:endParaRPr/>
            </a:p>
          </p:txBody>
        </p:sp>
        <p:sp>
          <p:nvSpPr>
            <p:cNvPr id="6" name="object 6"/>
            <p:cNvSpPr/>
            <p:nvPr/>
          </p:nvSpPr>
          <p:spPr>
            <a:xfrm>
              <a:off x="309193" y="576724"/>
              <a:ext cx="3989704" cy="205104"/>
            </a:xfrm>
            <a:custGeom>
              <a:avLst/>
              <a:gdLst/>
              <a:ahLst/>
              <a:cxnLst/>
              <a:rect l="l" t="t" r="r" b="b"/>
              <a:pathLst>
                <a:path w="3989704" h="205104">
                  <a:moveTo>
                    <a:pt x="3989652" y="0"/>
                  </a:moveTo>
                  <a:lnTo>
                    <a:pt x="0" y="0"/>
                  </a:lnTo>
                  <a:lnTo>
                    <a:pt x="0" y="153893"/>
                  </a:lnTo>
                  <a:lnTo>
                    <a:pt x="4008" y="173618"/>
                  </a:lnTo>
                  <a:lnTo>
                    <a:pt x="14922" y="189771"/>
                  </a:lnTo>
                  <a:lnTo>
                    <a:pt x="31075" y="200685"/>
                  </a:lnTo>
                  <a:lnTo>
                    <a:pt x="50800" y="204694"/>
                  </a:lnTo>
                  <a:lnTo>
                    <a:pt x="3938852" y="204694"/>
                  </a:lnTo>
                  <a:lnTo>
                    <a:pt x="3958576" y="200685"/>
                  </a:lnTo>
                  <a:lnTo>
                    <a:pt x="3974729" y="189771"/>
                  </a:lnTo>
                  <a:lnTo>
                    <a:pt x="3985644" y="173618"/>
                  </a:lnTo>
                  <a:lnTo>
                    <a:pt x="3989652" y="153893"/>
                  </a:lnTo>
                  <a:lnTo>
                    <a:pt x="3989652" y="0"/>
                  </a:lnTo>
                  <a:close/>
                </a:path>
              </a:pathLst>
            </a:custGeom>
            <a:solidFill>
              <a:srgbClr val="E9E9F2"/>
            </a:solidFill>
          </p:spPr>
          <p:txBody>
            <a:bodyPr wrap="square" lIns="0" tIns="0" rIns="0" bIns="0" rtlCol="0"/>
            <a:lstStyle/>
            <a:p>
              <a:endParaRPr dirty="0"/>
            </a:p>
          </p:txBody>
        </p:sp>
      </p:grpSp>
      <p:sp>
        <p:nvSpPr>
          <p:cNvPr id="7" name="object 7"/>
          <p:cNvSpPr txBox="1">
            <a:spLocks noGrp="1"/>
          </p:cNvSpPr>
          <p:nvPr>
            <p:ph type="title"/>
          </p:nvPr>
        </p:nvSpPr>
        <p:spPr>
          <a:xfrm>
            <a:off x="286071" y="618259"/>
            <a:ext cx="4174564" cy="141642"/>
          </a:xfrm>
          <a:prstGeom prst="rect">
            <a:avLst/>
          </a:prstGeom>
        </p:spPr>
        <p:txBody>
          <a:bodyPr vert="horz" wrap="square" lIns="0" tIns="0" rIns="0" bIns="0" rtlCol="0" anchor="t">
            <a:spAutoFit/>
          </a:bodyPr>
          <a:lstStyle/>
          <a:p>
            <a:pPr marL="1228725">
              <a:lnSpc>
                <a:spcPts val="1120"/>
              </a:lnSpc>
            </a:pPr>
            <a:r>
              <a:rPr lang="en-US" sz="1200" spc="-10" dirty="0"/>
              <a:t>AP</a:t>
            </a:r>
            <a:r>
              <a:rPr lang="en-US" sz="1200" spc="-10" dirty="0">
                <a:latin typeface="Times New Roman" panose="02020603050405020304" pitchFamily="18" charset="0"/>
                <a:cs typeface="Times New Roman" panose="02020603050405020304" pitchFamily="18" charset="0"/>
              </a:rPr>
              <a:t>I</a:t>
            </a:r>
            <a:r>
              <a:rPr lang="en-US" sz="1200" spc="-10" dirty="0"/>
              <a:t> NEWS SUMMARY</a:t>
            </a:r>
            <a:endParaRPr sz="1200" spc="-10" dirty="0"/>
          </a:p>
        </p:txBody>
      </p:sp>
      <p:sp>
        <p:nvSpPr>
          <p:cNvPr id="9" name="object 9"/>
          <p:cNvSpPr txBox="1"/>
          <p:nvPr/>
        </p:nvSpPr>
        <p:spPr>
          <a:xfrm>
            <a:off x="1614270" y="2414106"/>
            <a:ext cx="1333306" cy="293670"/>
          </a:xfrm>
          <a:prstGeom prst="rect">
            <a:avLst/>
          </a:prstGeom>
        </p:spPr>
        <p:txBody>
          <a:bodyPr vert="horz" wrap="square" lIns="0" tIns="11430" rIns="0" bIns="0" rtlCol="0" anchor="t">
            <a:spAutoFit/>
          </a:bodyPr>
          <a:lstStyle/>
          <a:p>
            <a:pPr marL="12700" algn="ctr">
              <a:lnSpc>
                <a:spcPts val="1285"/>
              </a:lnSpc>
              <a:spcBef>
                <a:spcPts val="90"/>
              </a:spcBef>
            </a:pPr>
            <a:r>
              <a:rPr lang="en-US" sz="1100" b="1" spc="-10" dirty="0">
                <a:solidFill>
                  <a:srgbClr val="000000"/>
                </a:solidFill>
                <a:latin typeface="Arial"/>
                <a:cs typeface="Arial"/>
              </a:rPr>
              <a:t>Dr. UshaKiran</a:t>
            </a:r>
            <a:endParaRPr lang="en-US" sz="1100" b="1" spc="-40" dirty="0">
              <a:latin typeface="Arial"/>
              <a:cs typeface="Arial"/>
            </a:endParaRPr>
          </a:p>
          <a:p>
            <a:pPr marL="118745" algn="ctr">
              <a:lnSpc>
                <a:spcPts val="925"/>
              </a:lnSpc>
            </a:pPr>
            <a:r>
              <a:rPr lang="en-US" sz="800" spc="-10" dirty="0">
                <a:latin typeface="Tahoma"/>
                <a:cs typeface="Tahoma"/>
              </a:rPr>
              <a:t>Assistant Professor, SOCSE</a:t>
            </a:r>
            <a:endParaRPr sz="800" dirty="0">
              <a:latin typeface="Tahoma"/>
              <a:cs typeface="Tahoma"/>
            </a:endParaRPr>
          </a:p>
        </p:txBody>
      </p:sp>
      <p:sp>
        <p:nvSpPr>
          <p:cNvPr id="11" name="object 11"/>
          <p:cNvSpPr txBox="1"/>
          <p:nvPr/>
        </p:nvSpPr>
        <p:spPr>
          <a:xfrm>
            <a:off x="1949712" y="2859320"/>
            <a:ext cx="810268" cy="135293"/>
          </a:xfrm>
          <a:prstGeom prst="rect">
            <a:avLst/>
          </a:prstGeom>
        </p:spPr>
        <p:txBody>
          <a:bodyPr vert="horz" wrap="square" lIns="0" tIns="12065" rIns="0" bIns="0" rtlCol="0" anchor="t">
            <a:spAutoFit/>
          </a:bodyPr>
          <a:lstStyle/>
          <a:p>
            <a:pPr marL="12700">
              <a:spcBef>
                <a:spcPts val="95"/>
              </a:spcBef>
            </a:pPr>
            <a:r>
              <a:rPr sz="800" b="1" dirty="0">
                <a:latin typeface="Arial"/>
                <a:cs typeface="Arial"/>
              </a:rPr>
              <a:t>March</a:t>
            </a:r>
            <a:r>
              <a:rPr lang="en-US" sz="800" b="1" spc="30" dirty="0">
                <a:latin typeface="Arial"/>
                <a:cs typeface="Arial"/>
              </a:rPr>
              <a:t> 28</a:t>
            </a:r>
            <a:r>
              <a:rPr sz="800" b="1" dirty="0">
                <a:latin typeface="Arial"/>
                <a:cs typeface="Arial"/>
              </a:rPr>
              <a:t>,</a:t>
            </a:r>
            <a:r>
              <a:rPr sz="800" b="1" spc="35" dirty="0">
                <a:latin typeface="Arial"/>
                <a:cs typeface="Arial"/>
              </a:rPr>
              <a:t> </a:t>
            </a:r>
            <a:r>
              <a:rPr lang="en-US" sz="800" b="1" spc="-20" dirty="0">
                <a:latin typeface="Arial"/>
                <a:cs typeface="Arial"/>
              </a:rPr>
              <a:t>2026</a:t>
            </a:r>
            <a:endParaRPr sz="800" dirty="0">
              <a:latin typeface="Arial"/>
              <a:cs typeface="Arial"/>
            </a:endParaRPr>
          </a:p>
        </p:txBody>
      </p:sp>
      <p:grpSp>
        <p:nvGrpSpPr>
          <p:cNvPr id="12" name="object 12"/>
          <p:cNvGrpSpPr/>
          <p:nvPr/>
        </p:nvGrpSpPr>
        <p:grpSpPr>
          <a:xfrm>
            <a:off x="0" y="3329876"/>
            <a:ext cx="4608195" cy="126364"/>
            <a:chOff x="0" y="3329876"/>
            <a:chExt cx="4608195" cy="126364"/>
          </a:xfrm>
        </p:grpSpPr>
        <p:sp>
          <p:nvSpPr>
            <p:cNvPr id="13" name="object 13"/>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4" name="object 14"/>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5" name="object 15"/>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spc="-10" dirty="0"/>
              <a:t>Department</a:t>
            </a:r>
            <a:r>
              <a:rPr spc="20" dirty="0"/>
              <a:t> </a:t>
            </a:r>
            <a:r>
              <a:rPr dirty="0"/>
              <a:t>of</a:t>
            </a:r>
            <a:r>
              <a:rPr lang="en-US" dirty="0"/>
              <a:t> Data Science Engineering </a:t>
            </a:r>
            <a:endParaRPr spc="-10" dirty="0"/>
          </a:p>
        </p:txBody>
      </p:sp>
      <p:sp>
        <p:nvSpPr>
          <p:cNvPr id="16" name="object 16"/>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fld id="{81D60167-4931-47E6-BA6A-407CBD079E47}" type="slidenum">
              <a:rPr sz="600" b="1" spc="75">
                <a:solidFill>
                  <a:srgbClr val="FFFFFF"/>
                </a:solidFill>
                <a:latin typeface="Arial"/>
                <a:cs typeface="Arial"/>
              </a:rPr>
              <a:t>1</a:t>
            </a:fld>
            <a:endParaRPr lang="en-US" sz="600" b="1" spc="75">
              <a:solidFill>
                <a:srgbClr val="FFFFFF"/>
              </a:solidFill>
              <a:latin typeface="Arial"/>
              <a:cs typeface="Arial"/>
            </a:endParaRPr>
          </a:p>
        </p:txBody>
      </p:sp>
      <p:sp>
        <p:nvSpPr>
          <p:cNvPr id="8" name="object 8"/>
          <p:cNvSpPr txBox="1"/>
          <p:nvPr/>
        </p:nvSpPr>
        <p:spPr>
          <a:xfrm>
            <a:off x="1205610" y="1010658"/>
            <a:ext cx="2120596" cy="1282274"/>
          </a:xfrm>
          <a:prstGeom prst="rect">
            <a:avLst/>
          </a:prstGeom>
        </p:spPr>
        <p:txBody>
          <a:bodyPr vert="horz" wrap="square" lIns="0" tIns="88900" rIns="0" bIns="0" rtlCol="0" anchor="t">
            <a:spAutoFit/>
          </a:bodyPr>
          <a:lstStyle/>
          <a:p>
            <a:pPr algn="ctr">
              <a:lnSpc>
                <a:spcPct val="100000"/>
              </a:lnSpc>
              <a:spcBef>
                <a:spcPts val="700"/>
              </a:spcBef>
            </a:pPr>
            <a:r>
              <a:rPr sz="1100" i="1" spc="-10" dirty="0">
                <a:latin typeface="Arial"/>
                <a:cs typeface="Arial"/>
              </a:rPr>
              <a:t>Project</a:t>
            </a:r>
            <a:r>
              <a:rPr sz="1100" i="1" spc="-35" dirty="0">
                <a:latin typeface="Arial"/>
                <a:cs typeface="Arial"/>
              </a:rPr>
              <a:t> </a:t>
            </a:r>
            <a:r>
              <a:rPr sz="1100" i="1" spc="-65" dirty="0">
                <a:latin typeface="Arial"/>
                <a:cs typeface="Arial"/>
              </a:rPr>
              <a:t>Progress</a:t>
            </a:r>
            <a:r>
              <a:rPr sz="1100" i="1" spc="-10" dirty="0">
                <a:latin typeface="Arial"/>
                <a:cs typeface="Arial"/>
              </a:rPr>
              <a:t> </a:t>
            </a:r>
            <a:r>
              <a:rPr sz="1100" i="1" spc="-30" dirty="0">
                <a:latin typeface="Arial"/>
                <a:cs typeface="Arial"/>
              </a:rPr>
              <a:t>Presentation</a:t>
            </a:r>
            <a:endParaRPr sz="1100" dirty="0">
              <a:latin typeface="Arial"/>
              <a:cs typeface="Arial"/>
            </a:endParaRPr>
          </a:p>
          <a:p>
            <a:pPr marL="1905" algn="ctr">
              <a:spcBef>
                <a:spcPts val="605"/>
              </a:spcBef>
            </a:pPr>
            <a:r>
              <a:rPr lang="en-US" sz="1100" b="1" spc="-20" dirty="0">
                <a:latin typeface="Arial"/>
                <a:cs typeface="Arial"/>
              </a:rPr>
              <a:t>SHREYA</a:t>
            </a:r>
            <a:endParaRPr lang="en-US" sz="1100" dirty="0">
              <a:latin typeface="Arial"/>
              <a:cs typeface="Arial"/>
            </a:endParaRPr>
          </a:p>
          <a:p>
            <a:pPr marL="271780" marR="260985" algn="ctr">
              <a:lnSpc>
                <a:spcPct val="102600"/>
              </a:lnSpc>
            </a:pPr>
            <a:r>
              <a:rPr lang="en-US" sz="1100" spc="-25" dirty="0">
                <a:latin typeface="Tahoma"/>
                <a:cs typeface="Tahoma"/>
              </a:rPr>
              <a:t>220968017</a:t>
            </a:r>
            <a:endParaRPr lang="en-US" sz="1100" dirty="0">
              <a:latin typeface="Tahoma"/>
              <a:cs typeface="Tahoma"/>
            </a:endParaRPr>
          </a:p>
          <a:p>
            <a:pPr marL="271780" marR="260985" algn="ctr">
              <a:lnSpc>
                <a:spcPct val="102600"/>
              </a:lnSpc>
            </a:pPr>
            <a:r>
              <a:rPr lang="en-US" sz="1100" spc="-10" dirty="0">
                <a:latin typeface="Tahoma"/>
                <a:cs typeface="Tahoma"/>
              </a:rPr>
              <a:t>Data Science Engineering</a:t>
            </a:r>
            <a:endParaRPr sz="1100" dirty="0">
              <a:latin typeface="Tahoma"/>
              <a:cs typeface="Tahoma"/>
            </a:endParaRPr>
          </a:p>
          <a:p>
            <a:pPr>
              <a:lnSpc>
                <a:spcPct val="100000"/>
              </a:lnSpc>
              <a:spcBef>
                <a:spcPts val="690"/>
              </a:spcBef>
            </a:pPr>
            <a:endParaRPr sz="1100" dirty="0">
              <a:latin typeface="Tahoma"/>
              <a:cs typeface="Tahoma"/>
            </a:endParaRPr>
          </a:p>
          <a:p>
            <a:pPr marR="19050" algn="ctr">
              <a:lnSpc>
                <a:spcPct val="100000"/>
              </a:lnSpc>
            </a:pPr>
            <a:r>
              <a:rPr sz="1100" i="1" spc="-35" dirty="0">
                <a:latin typeface="Arial"/>
                <a:cs typeface="Arial"/>
              </a:rPr>
              <a:t>Under </a:t>
            </a:r>
            <a:r>
              <a:rPr sz="1100" i="1" dirty="0">
                <a:latin typeface="Arial"/>
                <a:cs typeface="Arial"/>
              </a:rPr>
              <a:t>the</a:t>
            </a:r>
            <a:r>
              <a:rPr sz="1100" i="1" spc="-25" dirty="0">
                <a:latin typeface="Arial"/>
                <a:cs typeface="Arial"/>
              </a:rPr>
              <a:t> </a:t>
            </a:r>
            <a:r>
              <a:rPr sz="1100" i="1" spc="-55" dirty="0">
                <a:latin typeface="Arial"/>
                <a:cs typeface="Arial"/>
              </a:rPr>
              <a:t>guidance</a:t>
            </a:r>
            <a:r>
              <a:rPr sz="1100" i="1" spc="-20" dirty="0">
                <a:latin typeface="Arial"/>
                <a:cs typeface="Arial"/>
              </a:rPr>
              <a:t> </a:t>
            </a:r>
            <a:r>
              <a:rPr sz="1100" i="1" spc="-25" dirty="0">
                <a:latin typeface="Arial"/>
                <a:cs typeface="Arial"/>
              </a:rPr>
              <a:t>of</a:t>
            </a:r>
            <a:endParaRPr sz="1100" dirty="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
            <a:ext cx="4608060" cy="311257"/>
          </a:xfrm>
          <a:prstGeom prst="rect">
            <a:avLst/>
          </a:prstGeom>
        </p:spPr>
      </p:pic>
      <p:sp>
        <p:nvSpPr>
          <p:cNvPr id="3" name="object 3"/>
          <p:cNvSpPr txBox="1">
            <a:spLocks noGrp="1"/>
          </p:cNvSpPr>
          <p:nvPr>
            <p:ph type="title"/>
          </p:nvPr>
        </p:nvSpPr>
        <p:spPr>
          <a:xfrm>
            <a:off x="154762" y="-2580"/>
            <a:ext cx="1556385" cy="244475"/>
          </a:xfrm>
          <a:prstGeom prst="rect">
            <a:avLst/>
          </a:prstGeom>
        </p:spPr>
        <p:txBody>
          <a:bodyPr vert="horz" wrap="square" lIns="0" tIns="17145" rIns="0" bIns="0" rtlCol="0">
            <a:spAutoFit/>
          </a:bodyPr>
          <a:lstStyle/>
          <a:p>
            <a:pPr marL="12700">
              <a:lnSpc>
                <a:spcPct val="100000"/>
              </a:lnSpc>
              <a:spcBef>
                <a:spcPts val="135"/>
              </a:spcBef>
            </a:pPr>
            <a:r>
              <a:rPr sz="1400" b="0" spc="-30" dirty="0">
                <a:solidFill>
                  <a:srgbClr val="FFFFFF"/>
                </a:solidFill>
                <a:latin typeface="Tahoma"/>
                <a:cs typeface="Tahoma"/>
              </a:rPr>
              <a:t>Presentation</a:t>
            </a:r>
            <a:r>
              <a:rPr sz="1400" b="0" spc="5" dirty="0">
                <a:solidFill>
                  <a:srgbClr val="FFFFFF"/>
                </a:solidFill>
                <a:latin typeface="Tahoma"/>
                <a:cs typeface="Tahoma"/>
              </a:rPr>
              <a:t> </a:t>
            </a:r>
            <a:r>
              <a:rPr sz="1400" b="0" spc="-10" dirty="0">
                <a:solidFill>
                  <a:srgbClr val="FFFFFF"/>
                </a:solidFill>
                <a:latin typeface="Tahoma"/>
                <a:cs typeface="Tahoma"/>
              </a:rPr>
              <a:t>Outline</a:t>
            </a:r>
            <a:endParaRPr sz="1400">
              <a:latin typeface="Tahoma"/>
              <a:cs typeface="Tahoma"/>
            </a:endParaRPr>
          </a:p>
        </p:txBody>
      </p:sp>
      <p:pic>
        <p:nvPicPr>
          <p:cNvPr id="4" name="object 4"/>
          <p:cNvPicPr/>
          <p:nvPr/>
        </p:nvPicPr>
        <p:blipFill>
          <a:blip r:embed="rId3" cstate="print"/>
          <a:stretch>
            <a:fillRect/>
          </a:stretch>
        </p:blipFill>
        <p:spPr>
          <a:xfrm>
            <a:off x="449135" y="731275"/>
            <a:ext cx="114214" cy="114214"/>
          </a:xfrm>
          <a:prstGeom prst="rect">
            <a:avLst/>
          </a:prstGeom>
        </p:spPr>
      </p:pic>
      <p:sp>
        <p:nvSpPr>
          <p:cNvPr id="5" name="object 5"/>
          <p:cNvSpPr txBox="1"/>
          <p:nvPr/>
        </p:nvSpPr>
        <p:spPr>
          <a:xfrm>
            <a:off x="472668" y="719803"/>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1</a:t>
            </a:r>
            <a:endParaRPr sz="600">
              <a:latin typeface="Arial"/>
              <a:cs typeface="Arial"/>
            </a:endParaRPr>
          </a:p>
        </p:txBody>
      </p:sp>
      <p:sp>
        <p:nvSpPr>
          <p:cNvPr id="6" name="object 6"/>
          <p:cNvSpPr txBox="1">
            <a:spLocks noGrp="1"/>
          </p:cNvSpPr>
          <p:nvPr>
            <p:ph type="body" idx="1"/>
          </p:nvPr>
        </p:nvSpPr>
        <p:spPr>
          <a:prstGeom prst="rect">
            <a:avLst/>
          </a:prstGeom>
        </p:spPr>
        <p:txBody>
          <a:bodyPr vert="horz" wrap="square" lIns="0" tIns="55244" rIns="0" bIns="0" rtlCol="0">
            <a:spAutoFit/>
          </a:bodyPr>
          <a:lstStyle/>
          <a:p>
            <a:pPr marL="12700">
              <a:lnSpc>
                <a:spcPct val="100000"/>
              </a:lnSpc>
              <a:spcBef>
                <a:spcPts val="434"/>
              </a:spcBef>
            </a:pPr>
            <a:r>
              <a:rPr spc="-10" dirty="0"/>
              <a:t>Introduction</a:t>
            </a:r>
          </a:p>
          <a:p>
            <a:pPr marL="12700" marR="5080">
              <a:lnSpc>
                <a:spcPct val="125299"/>
              </a:lnSpc>
            </a:pPr>
            <a:r>
              <a:rPr spc="-20" dirty="0"/>
              <a:t>Literature</a:t>
            </a:r>
            <a:r>
              <a:rPr spc="-15" dirty="0"/>
              <a:t> </a:t>
            </a:r>
            <a:r>
              <a:rPr spc="-40" dirty="0"/>
              <a:t>Survey</a:t>
            </a:r>
            <a:r>
              <a:rPr spc="-15" dirty="0"/>
              <a:t> </a:t>
            </a:r>
            <a:r>
              <a:rPr spc="114" dirty="0"/>
              <a:t>/</a:t>
            </a:r>
            <a:r>
              <a:rPr spc="-15" dirty="0"/>
              <a:t> </a:t>
            </a:r>
            <a:r>
              <a:rPr spc="-30" dirty="0"/>
              <a:t>Background</a:t>
            </a:r>
            <a:r>
              <a:rPr spc="-15" dirty="0"/>
              <a:t> </a:t>
            </a:r>
            <a:r>
              <a:rPr spc="-35" dirty="0"/>
              <a:t>Theory </a:t>
            </a:r>
            <a:r>
              <a:rPr spc="-20" dirty="0"/>
              <a:t>Problem</a:t>
            </a:r>
            <a:r>
              <a:rPr spc="-40" dirty="0"/>
              <a:t> </a:t>
            </a:r>
            <a:r>
              <a:rPr spc="-10" dirty="0"/>
              <a:t>Definition</a:t>
            </a:r>
          </a:p>
          <a:p>
            <a:pPr marL="12700" marR="1353185">
              <a:lnSpc>
                <a:spcPct val="125299"/>
              </a:lnSpc>
            </a:pPr>
            <a:r>
              <a:rPr spc="-10" dirty="0"/>
              <a:t>Objectives Methodology </a:t>
            </a:r>
            <a:r>
              <a:rPr spc="-45" dirty="0"/>
              <a:t>Workdone</a:t>
            </a:r>
            <a:r>
              <a:rPr spc="-35" dirty="0"/>
              <a:t> </a:t>
            </a:r>
            <a:r>
              <a:rPr spc="-30" dirty="0"/>
              <a:t>so</a:t>
            </a:r>
            <a:r>
              <a:rPr spc="-35" dirty="0"/>
              <a:t> </a:t>
            </a:r>
            <a:r>
              <a:rPr spc="-55" dirty="0"/>
              <a:t>far </a:t>
            </a:r>
            <a:r>
              <a:rPr spc="-35" dirty="0"/>
              <a:t>Remaining</a:t>
            </a:r>
            <a:r>
              <a:rPr spc="-30" dirty="0"/>
              <a:t> </a:t>
            </a:r>
            <a:r>
              <a:rPr spc="-20" dirty="0"/>
              <a:t>work </a:t>
            </a:r>
            <a:r>
              <a:rPr spc="-10" dirty="0"/>
              <a:t>Scope Conclusion References</a:t>
            </a:r>
          </a:p>
        </p:txBody>
      </p:sp>
      <p:pic>
        <p:nvPicPr>
          <p:cNvPr id="7" name="object 7"/>
          <p:cNvPicPr/>
          <p:nvPr/>
        </p:nvPicPr>
        <p:blipFill>
          <a:blip r:embed="rId4" cstate="print"/>
          <a:stretch>
            <a:fillRect/>
          </a:stretch>
        </p:blipFill>
        <p:spPr>
          <a:xfrm>
            <a:off x="449135" y="941308"/>
            <a:ext cx="114214" cy="114214"/>
          </a:xfrm>
          <a:prstGeom prst="rect">
            <a:avLst/>
          </a:prstGeom>
        </p:spPr>
      </p:pic>
      <p:sp>
        <p:nvSpPr>
          <p:cNvPr id="8" name="object 8"/>
          <p:cNvSpPr txBox="1"/>
          <p:nvPr/>
        </p:nvSpPr>
        <p:spPr>
          <a:xfrm>
            <a:off x="472668" y="929835"/>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2</a:t>
            </a:r>
            <a:endParaRPr sz="600">
              <a:latin typeface="Arial"/>
              <a:cs typeface="Arial"/>
            </a:endParaRPr>
          </a:p>
        </p:txBody>
      </p:sp>
      <p:pic>
        <p:nvPicPr>
          <p:cNvPr id="9" name="object 9"/>
          <p:cNvPicPr/>
          <p:nvPr/>
        </p:nvPicPr>
        <p:blipFill>
          <a:blip r:embed="rId5" cstate="print"/>
          <a:stretch>
            <a:fillRect/>
          </a:stretch>
        </p:blipFill>
        <p:spPr>
          <a:xfrm>
            <a:off x="449135" y="1151340"/>
            <a:ext cx="114214" cy="114214"/>
          </a:xfrm>
          <a:prstGeom prst="rect">
            <a:avLst/>
          </a:prstGeom>
        </p:spPr>
      </p:pic>
      <p:sp>
        <p:nvSpPr>
          <p:cNvPr id="10" name="object 10"/>
          <p:cNvSpPr txBox="1"/>
          <p:nvPr/>
        </p:nvSpPr>
        <p:spPr>
          <a:xfrm>
            <a:off x="472668" y="1139868"/>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3</a:t>
            </a:r>
            <a:endParaRPr sz="600">
              <a:latin typeface="Arial"/>
              <a:cs typeface="Arial"/>
            </a:endParaRPr>
          </a:p>
        </p:txBody>
      </p:sp>
      <p:pic>
        <p:nvPicPr>
          <p:cNvPr id="11" name="object 11"/>
          <p:cNvPicPr/>
          <p:nvPr/>
        </p:nvPicPr>
        <p:blipFill>
          <a:blip r:embed="rId6" cstate="print"/>
          <a:stretch>
            <a:fillRect/>
          </a:stretch>
        </p:blipFill>
        <p:spPr>
          <a:xfrm>
            <a:off x="449135" y="1361373"/>
            <a:ext cx="114214" cy="114214"/>
          </a:xfrm>
          <a:prstGeom prst="rect">
            <a:avLst/>
          </a:prstGeom>
        </p:spPr>
      </p:pic>
      <p:sp>
        <p:nvSpPr>
          <p:cNvPr id="12" name="object 12"/>
          <p:cNvSpPr txBox="1"/>
          <p:nvPr/>
        </p:nvSpPr>
        <p:spPr>
          <a:xfrm>
            <a:off x="472668" y="1349900"/>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4</a:t>
            </a:r>
            <a:endParaRPr sz="600">
              <a:latin typeface="Arial"/>
              <a:cs typeface="Arial"/>
            </a:endParaRPr>
          </a:p>
        </p:txBody>
      </p:sp>
      <p:pic>
        <p:nvPicPr>
          <p:cNvPr id="13" name="object 13"/>
          <p:cNvPicPr/>
          <p:nvPr/>
        </p:nvPicPr>
        <p:blipFill>
          <a:blip r:embed="rId7" cstate="print"/>
          <a:stretch>
            <a:fillRect/>
          </a:stretch>
        </p:blipFill>
        <p:spPr>
          <a:xfrm>
            <a:off x="449135" y="1571405"/>
            <a:ext cx="114214" cy="114214"/>
          </a:xfrm>
          <a:prstGeom prst="rect">
            <a:avLst/>
          </a:prstGeom>
        </p:spPr>
      </p:pic>
      <p:sp>
        <p:nvSpPr>
          <p:cNvPr id="14" name="object 14"/>
          <p:cNvSpPr txBox="1"/>
          <p:nvPr/>
        </p:nvSpPr>
        <p:spPr>
          <a:xfrm>
            <a:off x="472668" y="1559933"/>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5</a:t>
            </a:r>
            <a:endParaRPr sz="600">
              <a:latin typeface="Arial"/>
              <a:cs typeface="Arial"/>
            </a:endParaRPr>
          </a:p>
        </p:txBody>
      </p:sp>
      <p:pic>
        <p:nvPicPr>
          <p:cNvPr id="15" name="object 15"/>
          <p:cNvPicPr/>
          <p:nvPr/>
        </p:nvPicPr>
        <p:blipFill>
          <a:blip r:embed="rId8" cstate="print"/>
          <a:stretch>
            <a:fillRect/>
          </a:stretch>
        </p:blipFill>
        <p:spPr>
          <a:xfrm>
            <a:off x="449135" y="1781438"/>
            <a:ext cx="114214" cy="114214"/>
          </a:xfrm>
          <a:prstGeom prst="rect">
            <a:avLst/>
          </a:prstGeom>
        </p:spPr>
      </p:pic>
      <p:sp>
        <p:nvSpPr>
          <p:cNvPr id="16" name="object 16"/>
          <p:cNvSpPr txBox="1"/>
          <p:nvPr/>
        </p:nvSpPr>
        <p:spPr>
          <a:xfrm>
            <a:off x="472668" y="1769966"/>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6</a:t>
            </a:r>
            <a:endParaRPr sz="600">
              <a:latin typeface="Arial"/>
              <a:cs typeface="Arial"/>
            </a:endParaRPr>
          </a:p>
        </p:txBody>
      </p:sp>
      <p:pic>
        <p:nvPicPr>
          <p:cNvPr id="17" name="object 17"/>
          <p:cNvPicPr/>
          <p:nvPr/>
        </p:nvPicPr>
        <p:blipFill>
          <a:blip r:embed="rId9" cstate="print"/>
          <a:stretch>
            <a:fillRect/>
          </a:stretch>
        </p:blipFill>
        <p:spPr>
          <a:xfrm>
            <a:off x="449135" y="1991471"/>
            <a:ext cx="114214" cy="114214"/>
          </a:xfrm>
          <a:prstGeom prst="rect">
            <a:avLst/>
          </a:prstGeom>
        </p:spPr>
      </p:pic>
      <p:sp>
        <p:nvSpPr>
          <p:cNvPr id="18" name="object 18"/>
          <p:cNvSpPr txBox="1"/>
          <p:nvPr/>
        </p:nvSpPr>
        <p:spPr>
          <a:xfrm>
            <a:off x="472668" y="1979998"/>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7</a:t>
            </a:r>
            <a:endParaRPr sz="600">
              <a:latin typeface="Arial"/>
              <a:cs typeface="Arial"/>
            </a:endParaRPr>
          </a:p>
        </p:txBody>
      </p:sp>
      <p:pic>
        <p:nvPicPr>
          <p:cNvPr id="19" name="object 19"/>
          <p:cNvPicPr/>
          <p:nvPr/>
        </p:nvPicPr>
        <p:blipFill>
          <a:blip r:embed="rId10" cstate="print"/>
          <a:stretch>
            <a:fillRect/>
          </a:stretch>
        </p:blipFill>
        <p:spPr>
          <a:xfrm>
            <a:off x="449135" y="2201503"/>
            <a:ext cx="114214" cy="114214"/>
          </a:xfrm>
          <a:prstGeom prst="rect">
            <a:avLst/>
          </a:prstGeom>
        </p:spPr>
      </p:pic>
      <p:sp>
        <p:nvSpPr>
          <p:cNvPr id="20" name="object 20"/>
          <p:cNvSpPr txBox="1"/>
          <p:nvPr/>
        </p:nvSpPr>
        <p:spPr>
          <a:xfrm>
            <a:off x="472668" y="2190031"/>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8</a:t>
            </a:r>
            <a:endParaRPr sz="600">
              <a:latin typeface="Arial"/>
              <a:cs typeface="Arial"/>
            </a:endParaRPr>
          </a:p>
        </p:txBody>
      </p:sp>
      <p:pic>
        <p:nvPicPr>
          <p:cNvPr id="21" name="object 21"/>
          <p:cNvPicPr/>
          <p:nvPr/>
        </p:nvPicPr>
        <p:blipFill>
          <a:blip r:embed="rId11" cstate="print"/>
          <a:stretch>
            <a:fillRect/>
          </a:stretch>
        </p:blipFill>
        <p:spPr>
          <a:xfrm>
            <a:off x="449135" y="2411536"/>
            <a:ext cx="114214" cy="114214"/>
          </a:xfrm>
          <a:prstGeom prst="rect">
            <a:avLst/>
          </a:prstGeom>
        </p:spPr>
      </p:pic>
      <p:sp>
        <p:nvSpPr>
          <p:cNvPr id="22" name="object 22"/>
          <p:cNvSpPr txBox="1"/>
          <p:nvPr/>
        </p:nvSpPr>
        <p:spPr>
          <a:xfrm>
            <a:off x="472668" y="2400063"/>
            <a:ext cx="67310" cy="116839"/>
          </a:xfrm>
          <a:prstGeom prst="rect">
            <a:avLst/>
          </a:prstGeom>
        </p:spPr>
        <p:txBody>
          <a:bodyPr vert="horz" wrap="square" lIns="0" tIns="12065" rIns="0" bIns="0" rtlCol="0">
            <a:spAutoFit/>
          </a:bodyPr>
          <a:lstStyle/>
          <a:p>
            <a:pPr marL="12700">
              <a:lnSpc>
                <a:spcPct val="100000"/>
              </a:lnSpc>
              <a:spcBef>
                <a:spcPts val="95"/>
              </a:spcBef>
            </a:pPr>
            <a:r>
              <a:rPr sz="600" b="1" spc="-50" dirty="0">
                <a:solidFill>
                  <a:srgbClr val="FFFFFF"/>
                </a:solidFill>
                <a:latin typeface="Arial"/>
                <a:cs typeface="Arial"/>
              </a:rPr>
              <a:t>9</a:t>
            </a:r>
            <a:endParaRPr sz="600">
              <a:latin typeface="Arial"/>
              <a:cs typeface="Arial"/>
            </a:endParaRPr>
          </a:p>
        </p:txBody>
      </p:sp>
      <p:pic>
        <p:nvPicPr>
          <p:cNvPr id="23" name="object 23"/>
          <p:cNvPicPr/>
          <p:nvPr/>
        </p:nvPicPr>
        <p:blipFill>
          <a:blip r:embed="rId12" cstate="print"/>
          <a:stretch>
            <a:fillRect/>
          </a:stretch>
        </p:blipFill>
        <p:spPr>
          <a:xfrm>
            <a:off x="449135" y="2621569"/>
            <a:ext cx="114214" cy="114214"/>
          </a:xfrm>
          <a:prstGeom prst="rect">
            <a:avLst/>
          </a:prstGeom>
        </p:spPr>
      </p:pic>
      <p:sp>
        <p:nvSpPr>
          <p:cNvPr id="24" name="object 24"/>
          <p:cNvSpPr txBox="1"/>
          <p:nvPr/>
        </p:nvSpPr>
        <p:spPr>
          <a:xfrm>
            <a:off x="451789" y="2610096"/>
            <a:ext cx="109220" cy="116839"/>
          </a:xfrm>
          <a:prstGeom prst="rect">
            <a:avLst/>
          </a:prstGeom>
        </p:spPr>
        <p:txBody>
          <a:bodyPr vert="horz" wrap="square" lIns="0" tIns="12065" rIns="0" bIns="0" rtlCol="0">
            <a:spAutoFit/>
          </a:bodyPr>
          <a:lstStyle/>
          <a:p>
            <a:pPr marL="12700">
              <a:lnSpc>
                <a:spcPct val="100000"/>
              </a:lnSpc>
              <a:spcBef>
                <a:spcPts val="95"/>
              </a:spcBef>
            </a:pPr>
            <a:r>
              <a:rPr sz="600" b="1" spc="-25" dirty="0">
                <a:solidFill>
                  <a:srgbClr val="FFFFFF"/>
                </a:solidFill>
                <a:latin typeface="Arial"/>
                <a:cs typeface="Arial"/>
              </a:rPr>
              <a:t>10</a:t>
            </a:r>
            <a:endParaRPr sz="600">
              <a:latin typeface="Arial"/>
              <a:cs typeface="Arial"/>
            </a:endParaRPr>
          </a:p>
        </p:txBody>
      </p:sp>
      <p:grpSp>
        <p:nvGrpSpPr>
          <p:cNvPr id="25" name="object 25"/>
          <p:cNvGrpSpPr/>
          <p:nvPr/>
        </p:nvGrpSpPr>
        <p:grpSpPr>
          <a:xfrm>
            <a:off x="0" y="3329876"/>
            <a:ext cx="4608195" cy="126364"/>
            <a:chOff x="0" y="3329876"/>
            <a:chExt cx="4608195" cy="126364"/>
          </a:xfrm>
        </p:grpSpPr>
        <p:sp>
          <p:nvSpPr>
            <p:cNvPr id="26" name="object 26"/>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27" name="object 27"/>
            <p:cNvSpPr/>
            <p:nvPr/>
          </p:nvSpPr>
          <p:spPr>
            <a:xfrm>
              <a:off x="2304008"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28" name="object 28"/>
          <p:cNvSpPr txBox="1">
            <a:spLocks noGrp="1"/>
          </p:cNvSpPr>
          <p:nvPr>
            <p:ph type="ftr" sz="quarter" idx="5"/>
          </p:nvPr>
        </p:nvSpPr>
        <p:spPr>
          <a:xfrm>
            <a:off x="95300" y="3344944"/>
            <a:ext cx="2108835" cy="179536"/>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a:p>
            <a:pPr marL="12700">
              <a:lnSpc>
                <a:spcPts val="685"/>
              </a:lnSpc>
            </a:pPr>
            <a:endParaRPr spc="-10" dirty="0"/>
          </a:p>
        </p:txBody>
      </p:sp>
      <p:sp>
        <p:nvSpPr>
          <p:cNvPr id="29" name="object 29"/>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fld id="{81D60167-4931-47E6-BA6A-407CBD079E47}" type="slidenum">
              <a:rPr sz="600" b="1" spc="75">
                <a:solidFill>
                  <a:srgbClr val="FFFFFF"/>
                </a:solidFill>
                <a:latin typeface="Arial"/>
                <a:cs typeface="Arial"/>
              </a:rPr>
              <a:t>2</a:t>
            </a:fld>
            <a:endParaRPr lang="en-US" sz="600" b="1" spc="75" dirty="0">
              <a:solidFill>
                <a:srgbClr val="FFFFFF"/>
              </a:solidFill>
              <a:latin typeface="Arial"/>
              <a:cs typeface="Arial"/>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85CE192-EEBF-390D-F4B5-672652E0179B}"/>
              </a:ext>
            </a:extLst>
          </p:cNvPr>
          <p:cNvSpPr txBox="1"/>
          <p:nvPr/>
        </p:nvSpPr>
        <p:spPr>
          <a:xfrm>
            <a:off x="30830" y="-98425"/>
            <a:ext cx="4950424" cy="371577"/>
          </a:xfrm>
          <a:prstGeom prst="rect">
            <a:avLst/>
          </a:prstGeom>
          <a:noFill/>
        </p:spPr>
        <p:txBody>
          <a:bodyPr wrap="square">
            <a:spAutoFit/>
          </a:bodyPr>
          <a:lstStyle/>
          <a:p>
            <a:pPr marL="57785" marR="729615" indent="-6350" algn="just">
              <a:lnSpc>
                <a:spcPct val="150000"/>
              </a:lnSpc>
              <a:spcAft>
                <a:spcPts val="285"/>
              </a:spcAft>
              <a:buNone/>
            </a:pPr>
            <a:r>
              <a:rPr lang="en-IN" sz="14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Introduction</a:t>
            </a:r>
            <a:r>
              <a:rPr lang="en-IN" sz="1400" b="1"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 </a:t>
            </a:r>
          </a:p>
        </p:txBody>
      </p:sp>
      <p:sp>
        <p:nvSpPr>
          <p:cNvPr id="18" name="TextBox 17">
            <a:extLst>
              <a:ext uri="{FF2B5EF4-FFF2-40B4-BE49-F238E27FC236}">
                <a16:creationId xmlns:a16="http://schemas.microsoft.com/office/drawing/2014/main" id="{020D963C-7CCF-53D8-B363-BF943D29FC59}"/>
              </a:ext>
            </a:extLst>
          </p:cNvPr>
          <p:cNvSpPr txBox="1"/>
          <p:nvPr/>
        </p:nvSpPr>
        <p:spPr>
          <a:xfrm>
            <a:off x="0" y="491720"/>
            <a:ext cx="4410201" cy="2554545"/>
          </a:xfrm>
          <a:prstGeom prst="rect">
            <a:avLst/>
          </a:prstGeom>
          <a:noFill/>
        </p:spPr>
        <p:txBody>
          <a:bodyPr wrap="square">
            <a:spAutoFit/>
          </a:bodyPr>
          <a:lstStyle/>
          <a:p>
            <a:r>
              <a:rPr lang="en-US" sz="1000" dirty="0">
                <a:latin typeface="Times New Roman" panose="02020603050405020304" pitchFamily="18" charset="0"/>
                <a:cs typeface="Times New Roman" panose="02020603050405020304" pitchFamily="18" charset="0"/>
              </a:rPr>
              <a:t>This project focuses on developing an intelligent web application that extracts news articles from URLs and generates concise summaries. With the rapid growth of online content, users often struggle to read lengthy articles. This system aims to simplify information consumption by providing quick summaries, keyword extraction, and short URLs for easy sharing. The application supports multilingual news and converts them into English summaries for better accessibility.</a:t>
            </a:r>
          </a:p>
          <a:p>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The system integrates APIs for retrieving live news data and applies </a:t>
            </a:r>
            <a:r>
              <a:rPr lang="en-US" sz="1000" b="1" dirty="0">
                <a:latin typeface="Times New Roman" panose="02020603050405020304" pitchFamily="18" charset="0"/>
                <a:cs typeface="Times New Roman" panose="02020603050405020304" pitchFamily="18" charset="0"/>
              </a:rPr>
              <a:t>Natural Language Processing (NLP)</a:t>
            </a:r>
            <a:r>
              <a:rPr lang="en-US" sz="1000" dirty="0">
                <a:latin typeface="Times New Roman" panose="02020603050405020304" pitchFamily="18" charset="0"/>
                <a:cs typeface="Times New Roman" panose="02020603050405020304" pitchFamily="18" charset="0"/>
              </a:rPr>
              <a:t> techniques to generate summaries. This enables users to quickly grasp essential information without reading full articles. The application is designed to be user-friendly and efficient, providing summaries instantly based on user queries or selected categories.</a:t>
            </a:r>
          </a:p>
          <a:p>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Overall, the system aims to improve </a:t>
            </a:r>
            <a:r>
              <a:rPr lang="en-US" sz="1000" b="1" dirty="0">
                <a:latin typeface="Times New Roman" panose="02020603050405020304" pitchFamily="18" charset="0"/>
                <a:cs typeface="Times New Roman" panose="02020603050405020304" pitchFamily="18" charset="0"/>
              </a:rPr>
              <a:t>information accessibility, efficiency, and user experience</a:t>
            </a:r>
            <a:r>
              <a:rPr lang="en-US" sz="1000" dirty="0">
                <a:latin typeface="Times New Roman" panose="02020603050405020304" pitchFamily="18" charset="0"/>
                <a:cs typeface="Times New Roman" panose="02020603050405020304" pitchFamily="18" charset="0"/>
              </a:rPr>
              <a:t> by transforming lengthy news content into easily digestible summaries.</a:t>
            </a:r>
          </a:p>
        </p:txBody>
      </p:sp>
      <p:grpSp>
        <p:nvGrpSpPr>
          <p:cNvPr id="21" name="object 3">
            <a:extLst>
              <a:ext uri="{FF2B5EF4-FFF2-40B4-BE49-F238E27FC236}">
                <a16:creationId xmlns:a16="http://schemas.microsoft.com/office/drawing/2014/main" id="{28E4D4D6-CD96-AEBA-9203-1AE96B2BB221}"/>
              </a:ext>
            </a:extLst>
          </p:cNvPr>
          <p:cNvGrpSpPr/>
          <p:nvPr/>
        </p:nvGrpSpPr>
        <p:grpSpPr>
          <a:xfrm>
            <a:off x="0" y="3345142"/>
            <a:ext cx="4608410" cy="126364"/>
            <a:chOff x="0" y="3329876"/>
            <a:chExt cx="4608410" cy="126364"/>
          </a:xfrm>
        </p:grpSpPr>
        <p:sp>
          <p:nvSpPr>
            <p:cNvPr id="22" name="object 4">
              <a:extLst>
                <a:ext uri="{FF2B5EF4-FFF2-40B4-BE49-F238E27FC236}">
                  <a16:creationId xmlns:a16="http://schemas.microsoft.com/office/drawing/2014/main" id="{B522C512-8537-0F09-8074-050CFC049216}"/>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23" name="object 5">
              <a:extLst>
                <a:ext uri="{FF2B5EF4-FFF2-40B4-BE49-F238E27FC236}">
                  <a16:creationId xmlns:a16="http://schemas.microsoft.com/office/drawing/2014/main" id="{6F06F175-8A55-B6FA-363F-0B0B772E43F3}"/>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r>
                <a:rPr lang="en-US" sz="1000" b="1" dirty="0"/>
                <a:t>                              </a:t>
              </a:r>
              <a:r>
                <a:rPr lang="en-US" sz="600" b="1" dirty="0">
                  <a:solidFill>
                    <a:schemeClr val="bg2"/>
                  </a:solidFill>
                  <a:latin typeface="Arial" panose="020B0604020202020204" pitchFamily="34" charset="0"/>
                  <a:cs typeface="Arial" panose="020B0604020202020204" pitchFamily="34" charset="0"/>
                </a:rPr>
                <a:t>3</a:t>
              </a:r>
              <a:endParaRPr sz="600" b="1" dirty="0">
                <a:solidFill>
                  <a:schemeClr val="bg2"/>
                </a:solidFill>
                <a:latin typeface="Arial" panose="020B0604020202020204" pitchFamily="34" charset="0"/>
                <a:cs typeface="Arial" panose="020B0604020202020204" pitchFamily="34" charset="0"/>
              </a:endParaRPr>
            </a:p>
          </p:txBody>
        </p:sp>
      </p:grpSp>
      <p:sp>
        <p:nvSpPr>
          <p:cNvPr id="28" name="TextBox 27">
            <a:extLst>
              <a:ext uri="{FF2B5EF4-FFF2-40B4-BE49-F238E27FC236}">
                <a16:creationId xmlns:a16="http://schemas.microsoft.com/office/drawing/2014/main" id="{B9587F72-5C02-0EF6-9CD3-8295842F7C74}"/>
              </a:ext>
            </a:extLst>
          </p:cNvPr>
          <p:cNvSpPr txBox="1"/>
          <p:nvPr/>
        </p:nvSpPr>
        <p:spPr>
          <a:xfrm>
            <a:off x="0" y="3323571"/>
            <a:ext cx="2506042" cy="271869"/>
          </a:xfrm>
          <a:prstGeom prst="rect">
            <a:avLst/>
          </a:prstGeom>
          <a:noFill/>
        </p:spPr>
        <p:txBody>
          <a:bodyPr wrap="square">
            <a:spAutoFit/>
          </a:bodyPr>
          <a:lstStyle/>
          <a:p>
            <a:pPr marL="12700">
              <a:lnSpc>
                <a:spcPts val="685"/>
              </a:lnSpc>
            </a:pPr>
            <a:r>
              <a:rPr lang="en-US" sz="800" spc="-10" dirty="0">
                <a:solidFill>
                  <a:schemeClr val="bg1"/>
                </a:solidFill>
              </a:rPr>
              <a:t>Department</a:t>
            </a:r>
            <a:r>
              <a:rPr lang="en-US" sz="800" spc="20" dirty="0">
                <a:solidFill>
                  <a:schemeClr val="bg1"/>
                </a:solidFill>
              </a:rPr>
              <a:t> </a:t>
            </a:r>
            <a:r>
              <a:rPr lang="en-US" sz="800" dirty="0">
                <a:solidFill>
                  <a:schemeClr val="bg1"/>
                </a:solidFill>
              </a:rPr>
              <a:t>of Data Science Engineering </a:t>
            </a:r>
            <a:endParaRPr lang="en-US" sz="800" spc="-10" dirty="0">
              <a:solidFill>
                <a:schemeClr val="bg1"/>
              </a:solidFill>
            </a:endParaRPr>
          </a:p>
          <a:p>
            <a:pPr marL="12700">
              <a:lnSpc>
                <a:spcPts val="685"/>
              </a:lnSpc>
            </a:pPr>
            <a:endParaRPr lang="en-US" sz="600" spc="-10" dirty="0">
              <a:solidFill>
                <a:schemeClr val="bg1"/>
              </a:solidFill>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54F00C-667D-4959-98EC-51EC12D943D1}"/>
              </a:ext>
            </a:extLst>
          </p:cNvPr>
          <p:cNvSpPr txBox="1"/>
          <p:nvPr/>
        </p:nvSpPr>
        <p:spPr>
          <a:xfrm>
            <a:off x="125779" y="810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rgbClr val="FFFFFF"/>
                </a:solidFill>
                <a:latin typeface="Tahoma"/>
                <a:ea typeface="Tahoma"/>
                <a:cs typeface="Tahoma"/>
              </a:rPr>
              <a:t>Literature Survey / Background Theory</a:t>
            </a:r>
          </a:p>
        </p:txBody>
      </p:sp>
      <p:grpSp>
        <p:nvGrpSpPr>
          <p:cNvPr id="7" name="object 3">
            <a:extLst>
              <a:ext uri="{FF2B5EF4-FFF2-40B4-BE49-F238E27FC236}">
                <a16:creationId xmlns:a16="http://schemas.microsoft.com/office/drawing/2014/main" id="{7A553182-C03A-3A81-F6B9-2ECCC7713B08}"/>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212F0AB9-6BBF-EA13-6F74-EDE8D85994A8}"/>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D2550F9A-E5D3-6C8B-6684-0A1712CBF800}"/>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grpSp>
        <p:nvGrpSpPr>
          <p:cNvPr id="11" name="object 3">
            <a:extLst>
              <a:ext uri="{FF2B5EF4-FFF2-40B4-BE49-F238E27FC236}">
                <a16:creationId xmlns:a16="http://schemas.microsoft.com/office/drawing/2014/main" id="{651AAC71-D763-FFEE-B325-12FEC058BF61}"/>
              </a:ext>
            </a:extLst>
          </p:cNvPr>
          <p:cNvGrpSpPr/>
          <p:nvPr/>
        </p:nvGrpSpPr>
        <p:grpSpPr>
          <a:xfrm>
            <a:off x="0" y="3329876"/>
            <a:ext cx="4608410" cy="126364"/>
            <a:chOff x="0" y="3329876"/>
            <a:chExt cx="4608410" cy="126364"/>
          </a:xfrm>
        </p:grpSpPr>
        <p:sp>
          <p:nvSpPr>
            <p:cNvPr id="9" name="object 4">
              <a:extLst>
                <a:ext uri="{FF2B5EF4-FFF2-40B4-BE49-F238E27FC236}">
                  <a16:creationId xmlns:a16="http://schemas.microsoft.com/office/drawing/2014/main" id="{92F39B1B-4A88-3CEC-5D41-3020675AD232}"/>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0" name="object 5">
              <a:extLst>
                <a:ext uri="{FF2B5EF4-FFF2-40B4-BE49-F238E27FC236}">
                  <a16:creationId xmlns:a16="http://schemas.microsoft.com/office/drawing/2014/main" id="{9352C7BE-BB5D-7EF8-3E11-A93778675DAC}"/>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3" name="object 6">
            <a:extLst>
              <a:ext uri="{FF2B5EF4-FFF2-40B4-BE49-F238E27FC236}">
                <a16:creationId xmlns:a16="http://schemas.microsoft.com/office/drawing/2014/main" id="{C89F6ED7-C162-F482-5902-54DE56394AE0}"/>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5" name="object 7">
            <a:extLst>
              <a:ext uri="{FF2B5EF4-FFF2-40B4-BE49-F238E27FC236}">
                <a16:creationId xmlns:a16="http://schemas.microsoft.com/office/drawing/2014/main" id="{A234FC4A-615E-7577-E8A2-DE2104087451}"/>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4</a:t>
            </a:r>
            <a:endParaRPr lang="en-US" sz="600" b="1" spc="75" dirty="0">
              <a:solidFill>
                <a:srgbClr val="FFFFFF"/>
              </a:solidFill>
              <a:latin typeface="Arial"/>
              <a:cs typeface="Arial"/>
            </a:endParaRPr>
          </a:p>
        </p:txBody>
      </p:sp>
      <p:sp>
        <p:nvSpPr>
          <p:cNvPr id="2" name="TextBox 1">
            <a:extLst>
              <a:ext uri="{FF2B5EF4-FFF2-40B4-BE49-F238E27FC236}">
                <a16:creationId xmlns:a16="http://schemas.microsoft.com/office/drawing/2014/main" id="{745DEB2D-D065-85D7-68E2-3DAF6C2793ED}"/>
              </a:ext>
            </a:extLst>
          </p:cNvPr>
          <p:cNvSpPr txBox="1"/>
          <p:nvPr/>
        </p:nvSpPr>
        <p:spPr>
          <a:xfrm>
            <a:off x="163513" y="716943"/>
            <a:ext cx="2050207"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800" dirty="0">
              <a:solidFill>
                <a:srgbClr val="000000"/>
              </a:solidFill>
            </a:endParaRPr>
          </a:p>
        </p:txBody>
      </p:sp>
      <p:sp>
        <p:nvSpPr>
          <p:cNvPr id="19" name="TextBox 18">
            <a:extLst>
              <a:ext uri="{FF2B5EF4-FFF2-40B4-BE49-F238E27FC236}">
                <a16:creationId xmlns:a16="http://schemas.microsoft.com/office/drawing/2014/main" id="{5BB358D2-8621-A2F4-B742-BEEA49EC970D}"/>
              </a:ext>
            </a:extLst>
          </p:cNvPr>
          <p:cNvSpPr txBox="1"/>
          <p:nvPr/>
        </p:nvSpPr>
        <p:spPr>
          <a:xfrm>
            <a:off x="0" y="824665"/>
            <a:ext cx="4660443" cy="215444"/>
          </a:xfrm>
          <a:prstGeom prst="rect">
            <a:avLst/>
          </a:prstGeom>
          <a:noFill/>
        </p:spPr>
        <p:txBody>
          <a:bodyPr wrap="square">
            <a:spAutoFit/>
          </a:bodyPr>
          <a:lstStyle/>
          <a:p>
            <a:endParaRPr lang="en-IN" sz="800" b="1"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2" name="Rectangle 3">
            <a:extLst>
              <a:ext uri="{FF2B5EF4-FFF2-40B4-BE49-F238E27FC236}">
                <a16:creationId xmlns:a16="http://schemas.microsoft.com/office/drawing/2014/main" id="{4207BA09-262E-8C56-BFA6-A17A158F5B9A}"/>
              </a:ext>
            </a:extLst>
          </p:cNvPr>
          <p:cNvSpPr>
            <a:spLocks noChangeArrowheads="1"/>
          </p:cNvSpPr>
          <p:nvPr/>
        </p:nvSpPr>
        <p:spPr bwMode="auto">
          <a:xfrm>
            <a:off x="92918" y="484133"/>
            <a:ext cx="44851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800" dirty="0">
                <a:latin typeface="Times New Roman" panose="02020603050405020304" pitchFamily="18" charset="0"/>
                <a:cs typeface="Times New Roman" panose="02020603050405020304" pitchFamily="18" charset="0"/>
              </a:rPr>
              <a:t>Text summarization is an important area in Natural Language Processing that focuses on reducing large text into shorter versions while keeping the main meaning. With the increase in online news content, summarization systems have become useful to help users quickly understand information without reading full articles.</a:t>
            </a:r>
          </a:p>
          <a:p>
            <a:r>
              <a:rPr lang="en-US" sz="800" dirty="0">
                <a:latin typeface="Times New Roman" panose="02020603050405020304" pitchFamily="18" charset="0"/>
                <a:cs typeface="Times New Roman" panose="02020603050405020304" pitchFamily="18" charset="0"/>
              </a:rPr>
              <a:t>There are mainly two types of text summarization techniques: extractive and abstractive. Extractive summarization selects important sentences directly from the original text based on factors like word frequency and sentence importance. It is simple and fast but may not produce smooth or connected summaries. On the other hand, abstractive summarization generates new sentences by understanding the meaning of the text. It produces more natural summaries but is more complex and requires advanced models.</a:t>
            </a:r>
          </a:p>
          <a:p>
            <a:r>
              <a:rPr lang="en-US" sz="800" dirty="0">
                <a:latin typeface="Times New Roman" panose="02020603050405020304" pitchFamily="18" charset="0"/>
                <a:cs typeface="Times New Roman" panose="02020603050405020304" pitchFamily="18" charset="0"/>
              </a:rPr>
              <a:t>Many modern systems use deep learning models such as BERT, GPT, and T5. These models help in understanding context and improving the quality of summaries compared to traditional methods.</a:t>
            </a:r>
          </a:p>
          <a:p>
            <a:r>
              <a:rPr lang="en-US" sz="800" dirty="0">
                <a:latin typeface="Times New Roman" panose="02020603050405020304" pitchFamily="18" charset="0"/>
                <a:cs typeface="Times New Roman" panose="02020603050405020304" pitchFamily="18" charset="0"/>
              </a:rPr>
              <a:t>For news-based applications, APIs like </a:t>
            </a:r>
            <a:r>
              <a:rPr lang="en-US" sz="800" dirty="0" err="1">
                <a:latin typeface="Times New Roman" panose="02020603050405020304" pitchFamily="18" charset="0"/>
                <a:cs typeface="Times New Roman" panose="02020603050405020304" pitchFamily="18" charset="0"/>
              </a:rPr>
              <a:t>NewsAPI</a:t>
            </a:r>
            <a:r>
              <a:rPr lang="en-US" sz="800" dirty="0">
                <a:latin typeface="Times New Roman" panose="02020603050405020304" pitchFamily="18" charset="0"/>
                <a:cs typeface="Times New Roman" panose="02020603050405020304" pitchFamily="18" charset="0"/>
              </a:rPr>
              <a:t> are commonly used to fetch real-time articles. These APIs allow applications to collect news from different sources and categories, making it easier to build dynamic systems.</a:t>
            </a:r>
          </a:p>
          <a:p>
            <a:r>
              <a:rPr lang="en-US" sz="800" dirty="0">
                <a:latin typeface="Times New Roman" panose="02020603050405020304" pitchFamily="18" charset="0"/>
                <a:cs typeface="Times New Roman" panose="02020603050405020304" pitchFamily="18" charset="0"/>
              </a:rPr>
              <a:t>However, existing systems have some limitations. Many applications only display news without summarizing it, while others provide summaries but do not use real-time data. Some systems also face issues like loss of important information, repetition in summaries, and dependency on external APIs.</a:t>
            </a:r>
          </a:p>
          <a:p>
            <a:r>
              <a:rPr lang="en-US" sz="800" dirty="0">
                <a:latin typeface="Times New Roman" panose="02020603050405020304" pitchFamily="18" charset="0"/>
                <a:cs typeface="Times New Roman" panose="02020603050405020304" pitchFamily="18" charset="0"/>
              </a:rPr>
              <a:t>Based on this study, there is a need for a system that combines real-time news fetching with efficient summarization techniques. The proposed project aims to address this by integrating News API with summarization methods to provide quick and meaningful news summaries to users.</a:t>
            </a:r>
          </a:p>
        </p:txBody>
      </p:sp>
    </p:spTree>
    <p:extLst>
      <p:ext uri="{BB962C8B-B14F-4D97-AF65-F5344CB8AC3E}">
        <p14:creationId xmlns:p14="http://schemas.microsoft.com/office/powerpoint/2010/main" val="2733562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74868B-9EA5-EC7F-7752-55C45F5DF3DA}"/>
              </a:ext>
            </a:extLst>
          </p:cNvPr>
          <p:cNvSpPr txBox="1"/>
          <p:nvPr/>
        </p:nvSpPr>
        <p:spPr>
          <a:xfrm>
            <a:off x="126534" y="381349"/>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chemeClr val="tx1"/>
                </a:solidFill>
                <a:latin typeface="Tahoma"/>
                <a:ea typeface="Tahoma"/>
                <a:cs typeface="Tahoma"/>
              </a:rPr>
              <a:t>Problem Definition</a:t>
            </a:r>
            <a:endParaRPr lang="en-US" dirty="0">
              <a:solidFill>
                <a:schemeClr val="tx1"/>
              </a:solidFill>
            </a:endParaRPr>
          </a:p>
        </p:txBody>
      </p:sp>
      <p:grpSp>
        <p:nvGrpSpPr>
          <p:cNvPr id="7" name="object 3">
            <a:extLst>
              <a:ext uri="{FF2B5EF4-FFF2-40B4-BE49-F238E27FC236}">
                <a16:creationId xmlns:a16="http://schemas.microsoft.com/office/drawing/2014/main" id="{B41EE454-A89B-09FD-A5E3-A6E6C8E0EF65}"/>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08D2D756-9BBA-E5B0-E3B2-162A67512C4D}"/>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12D943EF-DEF3-70F1-5C6F-AF46C871200C}"/>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01F23BB0-89A5-3253-EEF3-E7EDE69F5098}"/>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8E4D1FDB-419E-3DF0-BD81-D5CFB0D6197E}"/>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5</a:t>
            </a:r>
            <a:endParaRPr lang="en-US" sz="600" b="1" spc="75" dirty="0">
              <a:solidFill>
                <a:srgbClr val="FFFFFF"/>
              </a:solidFill>
              <a:latin typeface="Arial"/>
              <a:cs typeface="Arial"/>
            </a:endParaRPr>
          </a:p>
        </p:txBody>
      </p:sp>
      <p:sp>
        <p:nvSpPr>
          <p:cNvPr id="2" name="TextBox 1">
            <a:extLst>
              <a:ext uri="{FF2B5EF4-FFF2-40B4-BE49-F238E27FC236}">
                <a16:creationId xmlns:a16="http://schemas.microsoft.com/office/drawing/2014/main" id="{8B824766-AA1B-8E9E-5A2E-D6E5039378D8}"/>
              </a:ext>
            </a:extLst>
          </p:cNvPr>
          <p:cNvSpPr txBox="1"/>
          <p:nvPr/>
        </p:nvSpPr>
        <p:spPr>
          <a:xfrm>
            <a:off x="126534" y="340815"/>
            <a:ext cx="420732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1000" dirty="0">
              <a:solidFill>
                <a:srgbClr val="000000"/>
              </a:solidFill>
              <a:latin typeface="Tahoma"/>
              <a:ea typeface="Tahoma"/>
              <a:cs typeface="Tahoma"/>
            </a:endParaRPr>
          </a:p>
        </p:txBody>
      </p:sp>
      <p:sp>
        <p:nvSpPr>
          <p:cNvPr id="4" name="TextBox 3">
            <a:extLst>
              <a:ext uri="{FF2B5EF4-FFF2-40B4-BE49-F238E27FC236}">
                <a16:creationId xmlns:a16="http://schemas.microsoft.com/office/drawing/2014/main" id="{8A89D8FC-D693-FD7C-328C-48D975038868}"/>
              </a:ext>
            </a:extLst>
          </p:cNvPr>
          <p:cNvSpPr txBox="1"/>
          <p:nvPr/>
        </p:nvSpPr>
        <p:spPr>
          <a:xfrm>
            <a:off x="297138" y="710654"/>
            <a:ext cx="4090559"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800" dirty="0">
              <a:latin typeface="Tahoma"/>
              <a:ea typeface="Tahoma"/>
              <a:cs typeface="Tahoma"/>
            </a:endParaRPr>
          </a:p>
        </p:txBody>
      </p:sp>
      <p:sp>
        <p:nvSpPr>
          <p:cNvPr id="12" name="TextBox 11">
            <a:extLst>
              <a:ext uri="{FF2B5EF4-FFF2-40B4-BE49-F238E27FC236}">
                <a16:creationId xmlns:a16="http://schemas.microsoft.com/office/drawing/2014/main" id="{DB3E4F70-D9BB-9A04-2C5B-F8F606480A42}"/>
              </a:ext>
            </a:extLst>
          </p:cNvPr>
          <p:cNvSpPr txBox="1"/>
          <p:nvPr/>
        </p:nvSpPr>
        <p:spPr>
          <a:xfrm>
            <a:off x="119036" y="584875"/>
            <a:ext cx="159742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800" dirty="0">
              <a:solidFill>
                <a:srgbClr val="000000"/>
              </a:solidFill>
              <a:latin typeface="Tahoma"/>
              <a:ea typeface="Tahoma"/>
              <a:cs typeface="Tahoma"/>
            </a:endParaRPr>
          </a:p>
        </p:txBody>
      </p:sp>
      <p:sp>
        <p:nvSpPr>
          <p:cNvPr id="17" name="Rectangle 1">
            <a:extLst>
              <a:ext uri="{FF2B5EF4-FFF2-40B4-BE49-F238E27FC236}">
                <a16:creationId xmlns:a16="http://schemas.microsoft.com/office/drawing/2014/main" id="{6E59B805-7E76-BF61-7C61-903D1DC0AD7F}"/>
              </a:ext>
            </a:extLst>
          </p:cNvPr>
          <p:cNvSpPr>
            <a:spLocks noChangeArrowheads="1"/>
          </p:cNvSpPr>
          <p:nvPr/>
        </p:nvSpPr>
        <p:spPr bwMode="auto">
          <a:xfrm>
            <a:off x="30511" y="799525"/>
            <a:ext cx="454696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The overwhelming volume of daily digital news creates information overload, making it difficult for users and businesses to identify relevant updates efficiently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200" dirty="0">
                <a:latin typeface="Times New Roman" panose="02020603050405020304" pitchFamily="18" charset="0"/>
                <a:cs typeface="Times New Roman" panose="02020603050405020304" pitchFamily="18" charset="0"/>
              </a:rPr>
              <a:t>1.There is a need for a system that can </a:t>
            </a:r>
            <a:r>
              <a:rPr lang="en-US" sz="1200" b="1" dirty="0">
                <a:latin typeface="Times New Roman" panose="02020603050405020304" pitchFamily="18" charset="0"/>
                <a:cs typeface="Times New Roman" panose="02020603050405020304" pitchFamily="18" charset="0"/>
              </a:rPr>
              <a:t>automatically fetch real-time news and generate concise summaries</a:t>
            </a:r>
            <a:r>
              <a:rPr lang="en-US" sz="1200" dirty="0">
                <a:latin typeface="Times New Roman" panose="02020603050405020304" pitchFamily="18" charset="0"/>
                <a:cs typeface="Times New Roman" panose="02020603050405020304" pitchFamily="18" charset="0"/>
              </a:rPr>
              <a:t>, enabling users to quickly understand key information.</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29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3D4E93-53C8-1479-15CE-EA98095D6FA8}"/>
              </a:ext>
            </a:extLst>
          </p:cNvPr>
          <p:cNvSpPr txBox="1"/>
          <p:nvPr/>
        </p:nvSpPr>
        <p:spPr>
          <a:xfrm>
            <a:off x="163024" y="355849"/>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chemeClr val="tx1"/>
                </a:solidFill>
                <a:latin typeface="Tahoma"/>
                <a:ea typeface="Tahoma"/>
                <a:cs typeface="Tahoma"/>
              </a:rPr>
              <a:t>Objectives: </a:t>
            </a:r>
            <a:endParaRPr lang="en-US" dirty="0">
              <a:solidFill>
                <a:schemeClr val="tx1"/>
              </a:solidFill>
            </a:endParaRPr>
          </a:p>
        </p:txBody>
      </p:sp>
      <p:grpSp>
        <p:nvGrpSpPr>
          <p:cNvPr id="7" name="object 3">
            <a:extLst>
              <a:ext uri="{FF2B5EF4-FFF2-40B4-BE49-F238E27FC236}">
                <a16:creationId xmlns:a16="http://schemas.microsoft.com/office/drawing/2014/main" id="{BAA5C754-3116-B82F-397F-3CE5278A926D}"/>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7F252E33-81BF-E8AA-ADB5-D23AF3E578BD}"/>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A4472015-F9A3-7849-DCB9-3818011B97F2}"/>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AE7CEA8B-9FE2-FE79-8396-3B20A97ED1F9}"/>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A97CA7D7-99E1-0D01-4367-58207883CA57}"/>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6</a:t>
            </a:r>
            <a:endParaRPr lang="en-US" sz="600" b="1" spc="75" dirty="0">
              <a:solidFill>
                <a:srgbClr val="FFFFFF"/>
              </a:solidFill>
              <a:latin typeface="Arial"/>
              <a:cs typeface="Arial"/>
            </a:endParaRPr>
          </a:p>
        </p:txBody>
      </p:sp>
      <p:sp>
        <p:nvSpPr>
          <p:cNvPr id="8" name="TextBox 7">
            <a:extLst>
              <a:ext uri="{FF2B5EF4-FFF2-40B4-BE49-F238E27FC236}">
                <a16:creationId xmlns:a16="http://schemas.microsoft.com/office/drawing/2014/main" id="{671FDAEC-6B7A-A11F-B749-C6F46F38DD8E}"/>
              </a:ext>
            </a:extLst>
          </p:cNvPr>
          <p:cNvSpPr txBox="1"/>
          <p:nvPr/>
        </p:nvSpPr>
        <p:spPr>
          <a:xfrm>
            <a:off x="1847811" y="179409"/>
            <a:ext cx="1572245" cy="20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p>
        </p:txBody>
      </p:sp>
      <p:sp>
        <p:nvSpPr>
          <p:cNvPr id="2" name="Rectangle 1">
            <a:extLst>
              <a:ext uri="{FF2B5EF4-FFF2-40B4-BE49-F238E27FC236}">
                <a16:creationId xmlns:a16="http://schemas.microsoft.com/office/drawing/2014/main" id="{04DDFED4-23EF-D20E-B9FB-B32D7C2FDE65}"/>
              </a:ext>
            </a:extLst>
          </p:cNvPr>
          <p:cNvSpPr>
            <a:spLocks noChangeArrowheads="1"/>
          </p:cNvSpPr>
          <p:nvPr/>
        </p:nvSpPr>
        <p:spPr bwMode="auto">
          <a:xfrm>
            <a:off x="223759" y="685154"/>
            <a:ext cx="416047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Fetch real-time news using APIs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Generate concise summaries using NLP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Reduce information overload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Provide category-based news filtering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Improve user reading efficiency </a:t>
            </a:r>
          </a:p>
        </p:txBody>
      </p:sp>
    </p:spTree>
    <p:extLst>
      <p:ext uri="{BB962C8B-B14F-4D97-AF65-F5344CB8AC3E}">
        <p14:creationId xmlns:p14="http://schemas.microsoft.com/office/powerpoint/2010/main" val="1570191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8C7C-5D63-9FE8-75BB-4786BAEF1D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70358D-C3AA-5A10-DF34-59B671D4EECD}"/>
              </a:ext>
            </a:extLst>
          </p:cNvPr>
          <p:cNvSpPr txBox="1"/>
          <p:nvPr/>
        </p:nvSpPr>
        <p:spPr>
          <a:xfrm>
            <a:off x="89947" y="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chemeClr val="bg1"/>
                </a:solidFill>
                <a:latin typeface="Tahoma"/>
                <a:ea typeface="Tahoma"/>
                <a:cs typeface="Tahoma"/>
              </a:rPr>
              <a:t>Methodology</a:t>
            </a:r>
            <a:endParaRPr lang="en-US" dirty="0">
              <a:solidFill>
                <a:schemeClr val="bg1"/>
              </a:solidFill>
            </a:endParaRPr>
          </a:p>
        </p:txBody>
      </p:sp>
      <p:grpSp>
        <p:nvGrpSpPr>
          <p:cNvPr id="7" name="object 3">
            <a:extLst>
              <a:ext uri="{FF2B5EF4-FFF2-40B4-BE49-F238E27FC236}">
                <a16:creationId xmlns:a16="http://schemas.microsoft.com/office/drawing/2014/main" id="{F237F944-8149-8D66-87BA-4621CDB48DCD}"/>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F8D42C3A-1BE3-D6DC-C1CD-BD933733E52F}"/>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666D9F21-A2D9-83EA-0736-72D1B9643D2F}"/>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4D5B47D0-7150-2209-37E3-64F06319821A}"/>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9FE63D53-DFFB-47D8-DFCA-98DD97885BC9}"/>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6</a:t>
            </a:r>
            <a:endParaRPr lang="en-US" sz="600" b="1" spc="75" dirty="0">
              <a:solidFill>
                <a:srgbClr val="FFFFFF"/>
              </a:solidFill>
              <a:latin typeface="Arial"/>
              <a:cs typeface="Arial"/>
            </a:endParaRPr>
          </a:p>
        </p:txBody>
      </p:sp>
      <p:sp>
        <p:nvSpPr>
          <p:cNvPr id="8" name="TextBox 7">
            <a:extLst>
              <a:ext uri="{FF2B5EF4-FFF2-40B4-BE49-F238E27FC236}">
                <a16:creationId xmlns:a16="http://schemas.microsoft.com/office/drawing/2014/main" id="{CFA09151-93D8-5543-5EB8-F3D793296484}"/>
              </a:ext>
            </a:extLst>
          </p:cNvPr>
          <p:cNvSpPr txBox="1"/>
          <p:nvPr/>
        </p:nvSpPr>
        <p:spPr>
          <a:xfrm>
            <a:off x="1847811" y="179409"/>
            <a:ext cx="1572245" cy="20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p>
        </p:txBody>
      </p:sp>
      <p:sp>
        <p:nvSpPr>
          <p:cNvPr id="10" name="Rectangle 2">
            <a:extLst>
              <a:ext uri="{FF2B5EF4-FFF2-40B4-BE49-F238E27FC236}">
                <a16:creationId xmlns:a16="http://schemas.microsoft.com/office/drawing/2014/main" id="{A97611F4-1B36-4F8A-378C-F1EE565ECEB0}"/>
              </a:ext>
            </a:extLst>
          </p:cNvPr>
          <p:cNvSpPr>
            <a:spLocks noChangeArrowheads="1"/>
          </p:cNvSpPr>
          <p:nvPr/>
        </p:nvSpPr>
        <p:spPr bwMode="auto">
          <a:xfrm>
            <a:off x="66134" y="402013"/>
            <a:ext cx="429631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dirty="0">
                <a:latin typeface="Times New Roman" panose="02020603050405020304" pitchFamily="18" charset="0"/>
                <a:cs typeface="Times New Roman" panose="02020603050405020304" pitchFamily="18" charset="0"/>
              </a:rPr>
              <a:t>The system follows these steps:</a:t>
            </a:r>
          </a:p>
          <a:p>
            <a:pPr lvl="0"/>
            <a:r>
              <a:rPr lang="en-US" sz="1200" dirty="0">
                <a:latin typeface="Times New Roman" panose="02020603050405020304" pitchFamily="18" charset="0"/>
                <a:cs typeface="Times New Roman" panose="02020603050405020304" pitchFamily="18" charset="0"/>
              </a:rPr>
              <a:t>1.User logs into the application</a:t>
            </a:r>
          </a:p>
          <a:p>
            <a:pPr lvl="0"/>
            <a:r>
              <a:rPr lang="en-US" sz="1200" dirty="0">
                <a:latin typeface="Times New Roman" panose="02020603050405020304" pitchFamily="18" charset="0"/>
                <a:cs typeface="Times New Roman" panose="02020603050405020304" pitchFamily="18" charset="0"/>
              </a:rPr>
              <a:t>2.User enters a news article URL</a:t>
            </a:r>
          </a:p>
          <a:p>
            <a:pPr lvl="0"/>
            <a:r>
              <a:rPr lang="en-US" sz="1200" dirty="0">
                <a:latin typeface="Times New Roman" panose="02020603050405020304" pitchFamily="18" charset="0"/>
                <a:cs typeface="Times New Roman" panose="02020603050405020304" pitchFamily="18" charset="0"/>
              </a:rPr>
              <a:t>3.Article content is extracted using newspaper3k</a:t>
            </a:r>
          </a:p>
          <a:p>
            <a:pPr lvl="0"/>
            <a:r>
              <a:rPr lang="en-US" sz="1200" dirty="0">
                <a:latin typeface="Times New Roman" panose="02020603050405020304" pitchFamily="18" charset="0"/>
                <a:cs typeface="Times New Roman" panose="02020603050405020304" pitchFamily="18" charset="0"/>
              </a:rPr>
              <a:t>4.If the article is in another language, it is translated into English</a:t>
            </a:r>
          </a:p>
          <a:p>
            <a:pPr lvl="0"/>
            <a:r>
              <a:rPr lang="en-US" sz="1200" dirty="0">
                <a:latin typeface="Times New Roman" panose="02020603050405020304" pitchFamily="18" charset="0"/>
                <a:cs typeface="Times New Roman" panose="02020603050405020304" pitchFamily="18" charset="0"/>
              </a:rPr>
              <a:t>5.AI model (</a:t>
            </a:r>
            <a:r>
              <a:rPr lang="en-US" sz="1200" dirty="0" err="1">
                <a:latin typeface="Times New Roman" panose="02020603050405020304" pitchFamily="18" charset="0"/>
                <a:cs typeface="Times New Roman" panose="02020603050405020304" pitchFamily="18" charset="0"/>
              </a:rPr>
              <a:t>DistilBART</a:t>
            </a:r>
            <a:r>
              <a:rPr lang="en-US" sz="1200" dirty="0">
                <a:latin typeface="Times New Roman" panose="02020603050405020304" pitchFamily="18" charset="0"/>
                <a:cs typeface="Times New Roman" panose="02020603050405020304" pitchFamily="18" charset="0"/>
              </a:rPr>
              <a:t>) generates a summary</a:t>
            </a:r>
          </a:p>
          <a:p>
            <a:pPr lvl="0"/>
            <a:r>
              <a:rPr lang="en-US" sz="1200" dirty="0">
                <a:latin typeface="Times New Roman" panose="02020603050405020304" pitchFamily="18" charset="0"/>
                <a:cs typeface="Times New Roman" panose="02020603050405020304" pitchFamily="18" charset="0"/>
              </a:rPr>
              <a:t>6.Slug and keywords are extracted from the URL/title</a:t>
            </a:r>
          </a:p>
          <a:p>
            <a:pPr lvl="0"/>
            <a:r>
              <a:rPr lang="en-US" sz="1200" dirty="0">
                <a:latin typeface="Times New Roman" panose="02020603050405020304" pitchFamily="18" charset="0"/>
                <a:cs typeface="Times New Roman" panose="02020603050405020304" pitchFamily="18" charset="0"/>
              </a:rPr>
              <a:t>7.A short URL is generated for sharing</a:t>
            </a:r>
          </a:p>
          <a:p>
            <a:pPr lvl="0"/>
            <a:r>
              <a:rPr lang="en-US" sz="1200" dirty="0">
                <a:latin typeface="Times New Roman" panose="02020603050405020304" pitchFamily="18" charset="0"/>
                <a:cs typeface="Times New Roman" panose="02020603050405020304" pitchFamily="18" charset="0"/>
              </a:rPr>
              <a:t>8.Results are displayed on the dashboard</a:t>
            </a:r>
          </a:p>
          <a:p>
            <a:endParaRPr lang="en-US" sz="1200" b="1" u="sng" dirty="0">
              <a:latin typeface="Times New Roman" panose="02020603050405020304" pitchFamily="18" charset="0"/>
              <a:cs typeface="Times New Roman" panose="02020603050405020304" pitchFamily="18" charset="0"/>
            </a:endParaRPr>
          </a:p>
          <a:p>
            <a:r>
              <a:rPr lang="en-US" sz="1200" b="1" u="sng" dirty="0">
                <a:latin typeface="Times New Roman" panose="02020603050405020304" pitchFamily="18" charset="0"/>
                <a:cs typeface="Times New Roman" panose="02020603050405020304" pitchFamily="18" charset="0"/>
              </a:rPr>
              <a:t>Technologies used</a:t>
            </a:r>
            <a:r>
              <a:rPr lang="en-US" sz="1200" dirty="0">
                <a:latin typeface="Times New Roman" panose="02020603050405020304" pitchFamily="18" charset="0"/>
                <a:cs typeface="Times New Roman" panose="02020603050405020304" pitchFamily="18" charset="0"/>
              </a:rPr>
              <a:t>:</a:t>
            </a:r>
          </a:p>
          <a:p>
            <a:pPr lvl="0"/>
            <a:r>
              <a:rPr lang="en-US" sz="1200" dirty="0" err="1">
                <a:latin typeface="Times New Roman" panose="02020603050405020304" pitchFamily="18" charset="0"/>
                <a:cs typeface="Times New Roman" panose="02020603050405020304" pitchFamily="18" charset="0"/>
              </a:rPr>
              <a:t>FastAPI</a:t>
            </a:r>
            <a:r>
              <a:rPr lang="en-US" sz="1200" dirty="0">
                <a:latin typeface="Times New Roman" panose="02020603050405020304" pitchFamily="18" charset="0"/>
                <a:cs typeface="Times New Roman" panose="02020603050405020304" pitchFamily="18" charset="0"/>
              </a:rPr>
              <a:t> (Backend)</a:t>
            </a:r>
          </a:p>
          <a:p>
            <a:pPr lvl="0"/>
            <a:r>
              <a:rPr lang="en-US" sz="1200" dirty="0">
                <a:latin typeface="Times New Roman" panose="02020603050405020304" pitchFamily="18" charset="0"/>
                <a:cs typeface="Times New Roman" panose="02020603050405020304" pitchFamily="18" charset="0"/>
              </a:rPr>
              <a:t>HTML/CSS (Frontend)</a:t>
            </a:r>
          </a:p>
          <a:p>
            <a:pPr lvl="0"/>
            <a:r>
              <a:rPr lang="en-US" sz="1200" dirty="0">
                <a:latin typeface="Times New Roman" panose="02020603050405020304" pitchFamily="18" charset="0"/>
                <a:cs typeface="Times New Roman" panose="02020603050405020304" pitchFamily="18" charset="0"/>
              </a:rPr>
              <a:t>Transformers (AI Model)</a:t>
            </a:r>
          </a:p>
          <a:p>
            <a:pPr lvl="0"/>
            <a:r>
              <a:rPr lang="en-US" sz="1200" dirty="0">
                <a:latin typeface="Times New Roman" panose="02020603050405020304" pitchFamily="18" charset="0"/>
                <a:cs typeface="Times New Roman" panose="02020603050405020304" pitchFamily="18" charset="0"/>
              </a:rPr>
              <a:t>Newspaper3k (Article Extraction)</a:t>
            </a:r>
          </a:p>
        </p:txBody>
      </p:sp>
    </p:spTree>
    <p:extLst>
      <p:ext uri="{BB962C8B-B14F-4D97-AF65-F5344CB8AC3E}">
        <p14:creationId xmlns:p14="http://schemas.microsoft.com/office/powerpoint/2010/main" val="2195629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710869-1112-4D80-D9BB-704AE24DBFDF}"/>
              </a:ext>
            </a:extLst>
          </p:cNvPr>
          <p:cNvSpPr txBox="1"/>
          <p:nvPr/>
        </p:nvSpPr>
        <p:spPr>
          <a:xfrm>
            <a:off x="125779" y="810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solidFill>
                  <a:srgbClr val="FFFFFF"/>
                </a:solidFill>
              </a:rPr>
              <a:t>Work Done So Far</a:t>
            </a:r>
            <a:endParaRPr lang="en-US"/>
          </a:p>
        </p:txBody>
      </p:sp>
      <p:grpSp>
        <p:nvGrpSpPr>
          <p:cNvPr id="7" name="object 3">
            <a:extLst>
              <a:ext uri="{FF2B5EF4-FFF2-40B4-BE49-F238E27FC236}">
                <a16:creationId xmlns:a16="http://schemas.microsoft.com/office/drawing/2014/main" id="{3FAD6BAF-753E-802B-DA8D-532D31252783}"/>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8851D2DE-4612-9472-24F4-9F2A1714A5B6}"/>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6048B77C-010C-BDAE-C0EE-B8D7C27DE43C}"/>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FF315171-52E0-7479-936F-AF150AF7E7F9}"/>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411FBC4B-A2F2-6CC5-003E-61DE4CDB688D}"/>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8</a:t>
            </a:r>
            <a:endParaRPr lang="en-US" sz="600" b="1" spc="75" dirty="0">
              <a:solidFill>
                <a:srgbClr val="FFFFFF"/>
              </a:solidFill>
              <a:latin typeface="Arial"/>
              <a:cs typeface="Arial"/>
            </a:endParaRPr>
          </a:p>
        </p:txBody>
      </p:sp>
      <p:sp>
        <p:nvSpPr>
          <p:cNvPr id="13" name="TextBox 12">
            <a:extLst>
              <a:ext uri="{FF2B5EF4-FFF2-40B4-BE49-F238E27FC236}">
                <a16:creationId xmlns:a16="http://schemas.microsoft.com/office/drawing/2014/main" id="{9FA79B89-7E37-50F0-92FB-41AC4072AE3E}"/>
              </a:ext>
            </a:extLst>
          </p:cNvPr>
          <p:cNvSpPr txBox="1"/>
          <p:nvPr/>
        </p:nvSpPr>
        <p:spPr>
          <a:xfrm>
            <a:off x="184860" y="330945"/>
            <a:ext cx="4038550" cy="181588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Integrated News API for fetching articles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Built backend structure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Implemented initial summarization logic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Developed basic UI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Fixed issues related to short URL generation and summarization errors </a:t>
            </a:r>
          </a:p>
        </p:txBody>
      </p:sp>
    </p:spTree>
    <p:extLst>
      <p:ext uri="{BB962C8B-B14F-4D97-AF65-F5344CB8AC3E}">
        <p14:creationId xmlns:p14="http://schemas.microsoft.com/office/powerpoint/2010/main" val="3082646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DDBEB2-5959-621E-9481-858F14013870}"/>
              </a:ext>
            </a:extLst>
          </p:cNvPr>
          <p:cNvSpPr txBox="1"/>
          <p:nvPr/>
        </p:nvSpPr>
        <p:spPr>
          <a:xfrm>
            <a:off x="125779" y="810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solidFill>
                  <a:srgbClr val="FFFFFF"/>
                </a:solidFill>
              </a:rPr>
              <a:t>Remaining Work</a:t>
            </a:r>
            <a:endParaRPr lang="en-US"/>
          </a:p>
        </p:txBody>
      </p:sp>
      <p:grpSp>
        <p:nvGrpSpPr>
          <p:cNvPr id="7" name="object 3">
            <a:extLst>
              <a:ext uri="{FF2B5EF4-FFF2-40B4-BE49-F238E27FC236}">
                <a16:creationId xmlns:a16="http://schemas.microsoft.com/office/drawing/2014/main" id="{684732BC-F568-052E-6B7F-0BDC18B7012F}"/>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70E48681-CFE6-C312-9297-F819DB17F55E}"/>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13850906-4D76-F4CF-4C8C-9EFDC33F6A2A}"/>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99D0179D-3847-FEEF-FF15-005A13688D47}"/>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05AC6AF8-08D3-D391-A4AE-AD697B24F6AB}"/>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9</a:t>
            </a:r>
            <a:endParaRPr lang="en-US" sz="600" b="1" spc="75" dirty="0">
              <a:solidFill>
                <a:srgbClr val="FFFFFF"/>
              </a:solidFill>
              <a:latin typeface="Arial"/>
              <a:cs typeface="Arial"/>
            </a:endParaRPr>
          </a:p>
        </p:txBody>
      </p:sp>
      <p:sp>
        <p:nvSpPr>
          <p:cNvPr id="2" name="TextBox 1">
            <a:extLst>
              <a:ext uri="{FF2B5EF4-FFF2-40B4-BE49-F238E27FC236}">
                <a16:creationId xmlns:a16="http://schemas.microsoft.com/office/drawing/2014/main" id="{4075F2BD-654E-92E5-47B4-0CA2E98252E0}"/>
              </a:ext>
            </a:extLst>
          </p:cNvPr>
          <p:cNvSpPr txBox="1"/>
          <p:nvPr/>
        </p:nvSpPr>
        <p:spPr>
          <a:xfrm>
            <a:off x="36212" y="463811"/>
            <a:ext cx="428283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dirty="0">
                <a:latin typeface="Tahoma"/>
                <a:ea typeface="Tahoma"/>
                <a:cs typeface="Tahoma"/>
              </a:rPr>
              <a:t>What Comes Next — Phase 2 Plan   </a:t>
            </a:r>
          </a:p>
          <a:p>
            <a:pPr algn="l"/>
            <a:endParaRPr lang="en-US" sz="1200" dirty="0">
              <a:latin typeface="Tahoma"/>
              <a:ea typeface="Tahoma"/>
              <a:cs typeface="Tahoma"/>
            </a:endParaRPr>
          </a:p>
          <a:p>
            <a:r>
              <a:rPr lang="en-US" sz="1200" dirty="0">
                <a:latin typeface="Tahoma"/>
                <a:ea typeface="Tahoma"/>
                <a:cs typeface="Tahoma"/>
              </a:rPr>
              <a:t> </a:t>
            </a:r>
            <a:r>
              <a:rPr lang="en-US" sz="1200" dirty="0"/>
              <a:t>·   Improve accuracy of keyword extraction</a:t>
            </a:r>
          </a:p>
          <a:p>
            <a:r>
              <a:rPr lang="en-US" sz="1200" dirty="0"/>
              <a:t>·   Optimize summarization speed</a:t>
            </a:r>
          </a:p>
          <a:p>
            <a:r>
              <a:rPr lang="en-US" sz="1200" dirty="0"/>
              <a:t>·   Store short URLs in database for persistence</a:t>
            </a:r>
          </a:p>
          <a:p>
            <a:r>
              <a:rPr lang="en-US" sz="1200" dirty="0"/>
              <a:t>·   Add category filters (Politics, Sports, Local)</a:t>
            </a:r>
          </a:p>
          <a:p>
            <a:r>
              <a:rPr lang="en-US" sz="1200" dirty="0"/>
              <a:t>·   Enhance UI with animations</a:t>
            </a:r>
          </a:p>
          <a:p>
            <a:r>
              <a:rPr lang="en-US" sz="1200" dirty="0"/>
              <a:t>·   Deploy the application online</a:t>
            </a:r>
          </a:p>
          <a:p>
            <a:r>
              <a:rPr lang="en-US" sz="1200" dirty="0"/>
              <a:t>·   Add user authentication with database</a:t>
            </a:r>
          </a:p>
          <a:p>
            <a:pPr algn="l"/>
            <a:endParaRPr lang="en-US" sz="1200" dirty="0">
              <a:latin typeface="Tahoma"/>
              <a:ea typeface="Tahoma"/>
              <a:cs typeface="Tahoma"/>
            </a:endParaRPr>
          </a:p>
        </p:txBody>
      </p:sp>
    </p:spTree>
    <p:extLst>
      <p:ext uri="{BB962C8B-B14F-4D97-AF65-F5344CB8AC3E}">
        <p14:creationId xmlns:p14="http://schemas.microsoft.com/office/powerpoint/2010/main" val="2463963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D386-FCE9-8072-C236-4A3B5D5EB7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73F2CB-7A86-6634-9C6E-514F5BA960A0}"/>
              </a:ext>
            </a:extLst>
          </p:cNvPr>
          <p:cNvSpPr txBox="1"/>
          <p:nvPr/>
        </p:nvSpPr>
        <p:spPr>
          <a:xfrm>
            <a:off x="125779" y="810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rgbClr val="FFFFFF"/>
                </a:solidFill>
              </a:rPr>
              <a:t>Scope</a:t>
            </a:r>
            <a:endParaRPr lang="en-US" dirty="0"/>
          </a:p>
        </p:txBody>
      </p:sp>
      <p:grpSp>
        <p:nvGrpSpPr>
          <p:cNvPr id="7" name="object 3">
            <a:extLst>
              <a:ext uri="{FF2B5EF4-FFF2-40B4-BE49-F238E27FC236}">
                <a16:creationId xmlns:a16="http://schemas.microsoft.com/office/drawing/2014/main" id="{8B4F235D-CD96-E834-E285-5DB0B2B254BC}"/>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5F362FA9-1A5D-0D71-9F2C-5828D211E287}"/>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009431E6-37EC-9790-9A66-1947A50F1396}"/>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54B8B1ED-473B-1261-F680-BD6625521026}"/>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88322B0A-FD5C-7F3D-CAB0-241B5AD70908}"/>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9</a:t>
            </a:r>
            <a:endParaRPr lang="en-US" sz="600" b="1" spc="75" dirty="0">
              <a:solidFill>
                <a:srgbClr val="FFFFFF"/>
              </a:solidFill>
              <a:latin typeface="Arial"/>
              <a:cs typeface="Arial"/>
            </a:endParaRPr>
          </a:p>
        </p:txBody>
      </p:sp>
      <p:sp>
        <p:nvSpPr>
          <p:cNvPr id="2" name="TextBox 1">
            <a:extLst>
              <a:ext uri="{FF2B5EF4-FFF2-40B4-BE49-F238E27FC236}">
                <a16:creationId xmlns:a16="http://schemas.microsoft.com/office/drawing/2014/main" id="{1E42B8A8-2268-8E2A-F4DD-2F71AD7BC936}"/>
              </a:ext>
            </a:extLst>
          </p:cNvPr>
          <p:cNvSpPr txBox="1"/>
          <p:nvPr/>
        </p:nvSpPr>
        <p:spPr>
          <a:xfrm>
            <a:off x="62718" y="587375"/>
            <a:ext cx="428283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latin typeface="Times New Roman" panose="02020603050405020304" pitchFamily="18" charset="0"/>
                <a:ea typeface="Tahoma" panose="020B0604030504040204" pitchFamily="34" charset="0"/>
                <a:cs typeface="Times New Roman" panose="02020603050405020304" pitchFamily="18" charset="0"/>
              </a:rPr>
              <a:t>The system can be extended for:</a:t>
            </a:r>
          </a:p>
          <a:p>
            <a:pPr marL="285750" lvl="0" indent="-285750">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Mobile applications</a:t>
            </a:r>
          </a:p>
          <a:p>
            <a:pPr marL="285750" lvl="0" indent="-285750">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Integration with real-time news APIs</a:t>
            </a:r>
          </a:p>
          <a:p>
            <a:pPr marL="285750" lvl="0" indent="-285750">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Personalized news recommendations</a:t>
            </a:r>
          </a:p>
          <a:p>
            <a:pPr marL="285750" lvl="0" indent="-285750">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Voice-based summarization</a:t>
            </a:r>
          </a:p>
          <a:p>
            <a:pPr marL="285750" lvl="0" indent="-285750">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Multi-language output summaries</a:t>
            </a:r>
          </a:p>
          <a:p>
            <a:pPr marL="285750" indent="-285750">
              <a:buFont typeface="Arial" panose="020B0604020202020204" pitchFamily="34" charset="0"/>
              <a:buChar char="•"/>
            </a:pPr>
            <a:r>
              <a:rPr lang="en-US" sz="1800" dirty="0">
                <a:latin typeface="Times New Roman" panose="02020603050405020304" pitchFamily="18" charset="0"/>
                <a:ea typeface="Tahoma" panose="020B0604030504040204" pitchFamily="34" charset="0"/>
                <a:cs typeface="Times New Roman" panose="02020603050405020304" pitchFamily="18" charset="0"/>
              </a:rPr>
              <a:t>AI-based sentiment analysis</a:t>
            </a:r>
            <a:endParaRPr lang="en-US" sz="12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983242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2C9C85-4ED1-3C0F-52B6-E4F357F886B7}"/>
              </a:ext>
            </a:extLst>
          </p:cNvPr>
          <p:cNvSpPr txBox="1"/>
          <p:nvPr/>
        </p:nvSpPr>
        <p:spPr>
          <a:xfrm>
            <a:off x="125779" y="810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dirty="0">
                <a:solidFill>
                  <a:srgbClr val="FFFFFF"/>
                </a:solidFill>
              </a:rPr>
              <a:t>Conclusion</a:t>
            </a:r>
            <a:endParaRPr lang="en-US" dirty="0"/>
          </a:p>
        </p:txBody>
      </p:sp>
      <p:grpSp>
        <p:nvGrpSpPr>
          <p:cNvPr id="7" name="object 3">
            <a:extLst>
              <a:ext uri="{FF2B5EF4-FFF2-40B4-BE49-F238E27FC236}">
                <a16:creationId xmlns:a16="http://schemas.microsoft.com/office/drawing/2014/main" id="{54EB260A-C6B5-B515-7DA4-2D4723ABDABE}"/>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EB0F7CCD-5608-5202-AF28-5FFFC4EE6662}"/>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E68DFF9C-591A-A37B-4716-05C8D25C5E37}"/>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01BB952F-89E7-02B4-F125-D08AC7237566}"/>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E1D3153D-783E-0DCE-2AD1-0842EF98A58F}"/>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10</a:t>
            </a:r>
          </a:p>
        </p:txBody>
      </p:sp>
      <p:sp>
        <p:nvSpPr>
          <p:cNvPr id="10" name="TextBox 9">
            <a:extLst>
              <a:ext uri="{FF2B5EF4-FFF2-40B4-BE49-F238E27FC236}">
                <a16:creationId xmlns:a16="http://schemas.microsoft.com/office/drawing/2014/main" id="{DD79F9F9-1611-2E30-0CA4-9A99A7CF37DE}"/>
              </a:ext>
            </a:extLst>
          </p:cNvPr>
          <p:cNvSpPr txBox="1"/>
          <p:nvPr/>
        </p:nvSpPr>
        <p:spPr>
          <a:xfrm>
            <a:off x="132923" y="523379"/>
            <a:ext cx="3810000" cy="2308324"/>
          </a:xfrm>
          <a:prstGeom prst="rect">
            <a:avLst/>
          </a:prstGeom>
          <a:noFill/>
        </p:spPr>
        <p:txBody>
          <a:bodyPr wrap="square">
            <a:spAutoFit/>
          </a:bodyPr>
          <a:lstStyle/>
          <a:p>
            <a:pPr algn="l"/>
            <a:r>
              <a:rPr lang="en-US" sz="1600" dirty="0">
                <a:latin typeface="Sabon Next LT" panose="020B0502040204020203" pitchFamily="2" charset="0"/>
                <a:ea typeface="Tahoma"/>
                <a:cs typeface="Sabon Next LT" panose="020B0502040204020203" pitchFamily="2" charset="0"/>
              </a:rPr>
              <a:t> </a:t>
            </a:r>
            <a:r>
              <a:rPr lang="en-US" sz="1600" dirty="0">
                <a:latin typeface="Sabon Next LT" panose="020B0502040204020203" pitchFamily="2" charset="0"/>
                <a:cs typeface="Sabon Next LT" panose="020B0502040204020203" pitchFamily="2" charset="0"/>
              </a:rPr>
              <a:t>The News API Summarization system provides an effective solution to manage information overload by delivering concise and meaningful summaries of real-time news. By integrating APIs with NLP techniques, the system enhances user experience and accessibility to information. Future improvements can make it more intelligent and personalized.</a:t>
            </a:r>
            <a:endParaRPr lang="en-US" sz="1600" dirty="0">
              <a:latin typeface="Sabon Next LT" panose="020B0502040204020203" pitchFamily="2" charset="0"/>
              <a:ea typeface="Tahoma"/>
              <a:cs typeface="Sabon Next LT" panose="020B0502040204020203" pitchFamily="2" charset="0"/>
            </a:endParaRPr>
          </a:p>
        </p:txBody>
      </p:sp>
    </p:spTree>
    <p:extLst>
      <p:ext uri="{BB962C8B-B14F-4D97-AF65-F5344CB8AC3E}">
        <p14:creationId xmlns:p14="http://schemas.microsoft.com/office/powerpoint/2010/main" val="464766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437191-AA87-E6E8-E68B-12A98D7446FA}"/>
              </a:ext>
            </a:extLst>
          </p:cNvPr>
          <p:cNvSpPr txBox="1"/>
          <p:nvPr/>
        </p:nvSpPr>
        <p:spPr>
          <a:xfrm>
            <a:off x="125779" y="8100"/>
            <a:ext cx="44851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solidFill>
                  <a:srgbClr val="FFFFFF"/>
                </a:solidFill>
              </a:rPr>
              <a:t>References</a:t>
            </a:r>
            <a:endParaRPr lang="en-US"/>
          </a:p>
        </p:txBody>
      </p:sp>
      <p:grpSp>
        <p:nvGrpSpPr>
          <p:cNvPr id="7" name="object 3">
            <a:extLst>
              <a:ext uri="{FF2B5EF4-FFF2-40B4-BE49-F238E27FC236}">
                <a16:creationId xmlns:a16="http://schemas.microsoft.com/office/drawing/2014/main" id="{7E84D410-7C73-4F2A-D8CB-FA550F6F6224}"/>
              </a:ext>
            </a:extLst>
          </p:cNvPr>
          <p:cNvGrpSpPr/>
          <p:nvPr/>
        </p:nvGrpSpPr>
        <p:grpSpPr>
          <a:xfrm>
            <a:off x="0" y="3329876"/>
            <a:ext cx="4608410" cy="126364"/>
            <a:chOff x="0" y="3329876"/>
            <a:chExt cx="4608410" cy="126364"/>
          </a:xfrm>
        </p:grpSpPr>
        <p:sp>
          <p:nvSpPr>
            <p:cNvPr id="5" name="object 4">
              <a:extLst>
                <a:ext uri="{FF2B5EF4-FFF2-40B4-BE49-F238E27FC236}">
                  <a16:creationId xmlns:a16="http://schemas.microsoft.com/office/drawing/2014/main" id="{61648952-21B4-1D9D-5476-5FF853450E11}"/>
                </a:ext>
              </a:extLst>
            </p:cNvPr>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6" name="object 5">
              <a:extLst>
                <a:ext uri="{FF2B5EF4-FFF2-40B4-BE49-F238E27FC236}">
                  <a16:creationId xmlns:a16="http://schemas.microsoft.com/office/drawing/2014/main" id="{969F094A-5222-3204-79A3-BF03D1245C4B}"/>
                </a:ext>
              </a:extLst>
            </p:cNvPr>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9" name="object 6">
            <a:extLst>
              <a:ext uri="{FF2B5EF4-FFF2-40B4-BE49-F238E27FC236}">
                <a16:creationId xmlns:a16="http://schemas.microsoft.com/office/drawing/2014/main" id="{13B711D9-5EDB-8788-99F8-F8FE0F634165}"/>
              </a:ext>
            </a:extLst>
          </p:cNvPr>
          <p:cNvSpPr txBox="1">
            <a:spLocks noGrp="1"/>
          </p:cNvSpPr>
          <p:nvPr>
            <p:ph type="ftr" sz="quarter" idx="5"/>
          </p:nvPr>
        </p:nvSpPr>
        <p:spPr>
          <a:xfrm>
            <a:off x="95300" y="3344944"/>
            <a:ext cx="2108835" cy="89768"/>
          </a:xfrm>
          <a:prstGeom prst="rect">
            <a:avLst/>
          </a:prstGeom>
        </p:spPr>
        <p:txBody>
          <a:bodyPr vert="horz" wrap="square" lIns="0" tIns="0" rIns="0" bIns="0" rtlCol="0">
            <a:spAutoFit/>
          </a:bodyPr>
          <a:lstStyle/>
          <a:p>
            <a:pPr marL="12700">
              <a:lnSpc>
                <a:spcPts val="685"/>
              </a:lnSpc>
            </a:pPr>
            <a:r>
              <a:rPr lang="en-US" spc="-10" dirty="0"/>
              <a:t>Department</a:t>
            </a:r>
            <a:r>
              <a:rPr lang="en-US" spc="20" dirty="0"/>
              <a:t> </a:t>
            </a:r>
            <a:r>
              <a:rPr lang="en-US" dirty="0"/>
              <a:t>of Data Science Engineering </a:t>
            </a:r>
            <a:endParaRPr lang="en-US" spc="-10" dirty="0"/>
          </a:p>
        </p:txBody>
      </p:sp>
      <p:sp>
        <p:nvSpPr>
          <p:cNvPr id="11" name="object 7">
            <a:extLst>
              <a:ext uri="{FF2B5EF4-FFF2-40B4-BE49-F238E27FC236}">
                <a16:creationId xmlns:a16="http://schemas.microsoft.com/office/drawing/2014/main" id="{076AEE18-C6DF-BEA1-72A2-FD826D4DA248}"/>
              </a:ext>
            </a:extLst>
          </p:cNvPr>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11</a:t>
            </a:r>
          </a:p>
        </p:txBody>
      </p:sp>
      <p:sp>
        <p:nvSpPr>
          <p:cNvPr id="8" name="TextBox 7">
            <a:extLst>
              <a:ext uri="{FF2B5EF4-FFF2-40B4-BE49-F238E27FC236}">
                <a16:creationId xmlns:a16="http://schemas.microsoft.com/office/drawing/2014/main" id="{38E4A009-1C81-899D-12EE-0606A261DD6F}"/>
              </a:ext>
            </a:extLst>
          </p:cNvPr>
          <p:cNvSpPr txBox="1"/>
          <p:nvPr/>
        </p:nvSpPr>
        <p:spPr>
          <a:xfrm>
            <a:off x="23668" y="815975"/>
            <a:ext cx="4389020" cy="1869743"/>
          </a:xfrm>
          <a:prstGeom prst="rect">
            <a:avLst/>
          </a:prstGeom>
          <a:noFill/>
        </p:spPr>
        <p:txBody>
          <a:bodyPr wrap="square">
            <a:spAutoFit/>
          </a:bodyPr>
          <a:lstStyle/>
          <a:p>
            <a:r>
              <a:rPr lang="en-IN" sz="1050" dirty="0">
                <a:latin typeface="Arial" panose="020B0604020202020204" pitchFamily="34" charset="0"/>
                <a:cs typeface="Arial" panose="020B0604020202020204" pitchFamily="34" charset="0"/>
              </a:rPr>
              <a:t> </a:t>
            </a:r>
            <a:r>
              <a:rPr lang="en-US" sz="1050" dirty="0"/>
              <a:t>[1] </a:t>
            </a:r>
            <a:r>
              <a:rPr lang="en-US" sz="1050" dirty="0" err="1"/>
              <a:t>Gias</a:t>
            </a:r>
            <a:r>
              <a:rPr lang="en-US" sz="1050" dirty="0"/>
              <a:t> Uddin, </a:t>
            </a:r>
            <a:r>
              <a:rPr lang="en-US" sz="1050" dirty="0" err="1"/>
              <a:t>Foutse</a:t>
            </a:r>
            <a:r>
              <a:rPr lang="en-US" sz="1050" dirty="0"/>
              <a:t> </a:t>
            </a:r>
            <a:r>
              <a:rPr lang="en-US" sz="1050" dirty="0" err="1"/>
              <a:t>Khomh</a:t>
            </a:r>
            <a:r>
              <a:rPr lang="en-US" sz="1050" dirty="0"/>
              <a:t>. (2017) </a:t>
            </a:r>
            <a:r>
              <a:rPr lang="en-US" sz="1050" dirty="0" err="1"/>
              <a:t>Gias</a:t>
            </a:r>
            <a:r>
              <a:rPr lang="en-US" sz="1050" dirty="0"/>
              <a:t> </a:t>
            </a:r>
            <a:r>
              <a:rPr lang="en-US" sz="1050" dirty="0" err="1"/>
              <a:t>Uddin;Foutse</a:t>
            </a:r>
            <a:r>
              <a:rPr lang="en-US" sz="1050" dirty="0"/>
              <a:t> </a:t>
            </a:r>
            <a:r>
              <a:rPr lang="en-US" sz="1050" dirty="0" err="1"/>
              <a:t>Khomh</a:t>
            </a:r>
            <a:r>
              <a:rPr lang="en-US" sz="1050" dirty="0"/>
              <a:t> </a:t>
            </a:r>
          </a:p>
          <a:p>
            <a:r>
              <a:rPr lang="en-US" sz="1050" dirty="0"/>
              <a:t>2017 32nd IEEE/ACM International Conference on Automated Software Engineering (ASE) Year: 2017.</a:t>
            </a:r>
          </a:p>
          <a:p>
            <a:r>
              <a:rPr lang="en-US" sz="1050" dirty="0"/>
              <a:t> </a:t>
            </a:r>
          </a:p>
          <a:p>
            <a:r>
              <a:rPr lang="en-US" sz="1050" dirty="0"/>
              <a:t>2] Natural language processing with Python: analyzing text with the natural language </a:t>
            </a:r>
            <a:r>
              <a:rPr lang="en-US" sz="1050" dirty="0" err="1"/>
              <a:t>toolkitS</a:t>
            </a:r>
            <a:r>
              <a:rPr lang="en-US" sz="1050" dirty="0"/>
              <a:t> Bird, E Klein, E Loper </a:t>
            </a:r>
          </a:p>
          <a:p>
            <a:r>
              <a:rPr lang="en-US" sz="1050" dirty="0"/>
              <a:t>2009•books.google.com </a:t>
            </a:r>
          </a:p>
          <a:p>
            <a:pPr lvl="0" fontAlgn="base"/>
            <a:endParaRPr lang="en-IN" sz="1050" dirty="0">
              <a:latin typeface="Arial" panose="020B0604020202020204" pitchFamily="34" charset="0"/>
              <a:cs typeface="Arial" panose="020B0604020202020204" pitchFamily="34" charset="0"/>
            </a:endParaRPr>
          </a:p>
          <a:p>
            <a:pPr lvl="0" fontAlgn="base"/>
            <a:r>
              <a:rPr lang="en-US" sz="1050" dirty="0"/>
              <a:t>3] Regina Barzilay, Kathleen R. McKeown, #x0022;Sentence Fusion for Multi-Document of News Summarisation,#x0022; Massachusetts Institute of Technology, Columbia University, 31, no. 3, Sep.(2005)</a:t>
            </a:r>
          </a:p>
        </p:txBody>
      </p:sp>
    </p:spTree>
    <p:extLst>
      <p:ext uri="{BB962C8B-B14F-4D97-AF65-F5344CB8AC3E}">
        <p14:creationId xmlns:p14="http://schemas.microsoft.com/office/powerpoint/2010/main" val="4103889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50800"/>
          </a:xfrm>
          <a:custGeom>
            <a:avLst/>
            <a:gdLst/>
            <a:ahLst/>
            <a:cxnLst/>
            <a:rect l="l" t="t" r="r" b="b"/>
            <a:pathLst>
              <a:path w="4608195" h="50800">
                <a:moveTo>
                  <a:pt x="4608060" y="0"/>
                </a:moveTo>
                <a:lnTo>
                  <a:pt x="0" y="0"/>
                </a:lnTo>
                <a:lnTo>
                  <a:pt x="0" y="50610"/>
                </a:lnTo>
                <a:lnTo>
                  <a:pt x="4608060" y="50610"/>
                </a:lnTo>
                <a:lnTo>
                  <a:pt x="4608060" y="0"/>
                </a:lnTo>
                <a:close/>
              </a:path>
            </a:pathLst>
          </a:custGeom>
          <a:solidFill>
            <a:srgbClr val="000000"/>
          </a:solidFill>
        </p:spPr>
        <p:txBody>
          <a:bodyPr wrap="square" lIns="0" tIns="0" rIns="0" bIns="0" rtlCol="0"/>
          <a:lstStyle/>
          <a:p>
            <a:endParaRPr/>
          </a:p>
        </p:txBody>
      </p:sp>
      <p:grpSp>
        <p:nvGrpSpPr>
          <p:cNvPr id="3" name="object 3"/>
          <p:cNvGrpSpPr/>
          <p:nvPr/>
        </p:nvGrpSpPr>
        <p:grpSpPr>
          <a:xfrm>
            <a:off x="309193" y="1248828"/>
            <a:ext cx="4040504" cy="347345"/>
            <a:chOff x="309193" y="1248828"/>
            <a:chExt cx="4040504" cy="347345"/>
          </a:xfrm>
        </p:grpSpPr>
        <p:sp>
          <p:nvSpPr>
            <p:cNvPr id="4" name="object 4"/>
            <p:cNvSpPr/>
            <p:nvPr/>
          </p:nvSpPr>
          <p:spPr>
            <a:xfrm>
              <a:off x="309193" y="1248828"/>
              <a:ext cx="3989704" cy="82550"/>
            </a:xfrm>
            <a:custGeom>
              <a:avLst/>
              <a:gdLst/>
              <a:ahLst/>
              <a:cxnLst/>
              <a:rect l="l" t="t" r="r" b="b"/>
              <a:pathLst>
                <a:path w="3989704" h="82550">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E9E9F2"/>
            </a:solidFill>
          </p:spPr>
          <p:txBody>
            <a:bodyPr wrap="square" lIns="0" tIns="0" rIns="0" bIns="0" rtlCol="0"/>
            <a:lstStyle/>
            <a:p>
              <a:endParaRPr/>
            </a:p>
          </p:txBody>
        </p:sp>
        <p:sp>
          <p:nvSpPr>
            <p:cNvPr id="5" name="object 5"/>
            <p:cNvSpPr/>
            <p:nvPr/>
          </p:nvSpPr>
          <p:spPr>
            <a:xfrm>
              <a:off x="359994" y="1312092"/>
              <a:ext cx="3989704" cy="284480"/>
            </a:xfrm>
            <a:custGeom>
              <a:avLst/>
              <a:gdLst/>
              <a:ahLst/>
              <a:cxnLst/>
              <a:rect l="l" t="t" r="r" b="b"/>
              <a:pathLst>
                <a:path w="3989704" h="284480">
                  <a:moveTo>
                    <a:pt x="3989652" y="0"/>
                  </a:moveTo>
                  <a:lnTo>
                    <a:pt x="0" y="0"/>
                  </a:lnTo>
                  <a:lnTo>
                    <a:pt x="0" y="283930"/>
                  </a:lnTo>
                  <a:lnTo>
                    <a:pt x="3989652" y="283930"/>
                  </a:lnTo>
                  <a:lnTo>
                    <a:pt x="3989652" y="0"/>
                  </a:lnTo>
                  <a:close/>
                </a:path>
              </a:pathLst>
            </a:custGeom>
            <a:solidFill>
              <a:srgbClr val="000000"/>
            </a:solidFill>
          </p:spPr>
          <p:txBody>
            <a:bodyPr wrap="square" lIns="0" tIns="0" rIns="0" bIns="0" rtlCol="0"/>
            <a:lstStyle/>
            <a:p>
              <a:endParaRPr/>
            </a:p>
          </p:txBody>
        </p:sp>
        <p:sp>
          <p:nvSpPr>
            <p:cNvPr id="6" name="object 6"/>
            <p:cNvSpPr/>
            <p:nvPr/>
          </p:nvSpPr>
          <p:spPr>
            <a:xfrm>
              <a:off x="309193" y="1293255"/>
              <a:ext cx="3989704" cy="252095"/>
            </a:xfrm>
            <a:custGeom>
              <a:avLst/>
              <a:gdLst/>
              <a:ahLst/>
              <a:cxnLst/>
              <a:rect l="l" t="t" r="r" b="b"/>
              <a:pathLst>
                <a:path w="3989704" h="252094">
                  <a:moveTo>
                    <a:pt x="3989652" y="0"/>
                  </a:moveTo>
                  <a:lnTo>
                    <a:pt x="0" y="0"/>
                  </a:lnTo>
                  <a:lnTo>
                    <a:pt x="0" y="201165"/>
                  </a:lnTo>
                  <a:lnTo>
                    <a:pt x="4008" y="220890"/>
                  </a:lnTo>
                  <a:lnTo>
                    <a:pt x="14922" y="237043"/>
                  </a:lnTo>
                  <a:lnTo>
                    <a:pt x="31075" y="247957"/>
                  </a:lnTo>
                  <a:lnTo>
                    <a:pt x="50800" y="251966"/>
                  </a:lnTo>
                  <a:lnTo>
                    <a:pt x="3938852" y="251966"/>
                  </a:lnTo>
                  <a:lnTo>
                    <a:pt x="3958576" y="247957"/>
                  </a:lnTo>
                  <a:lnTo>
                    <a:pt x="3974729" y="237043"/>
                  </a:lnTo>
                  <a:lnTo>
                    <a:pt x="3985644" y="220890"/>
                  </a:lnTo>
                  <a:lnTo>
                    <a:pt x="3989652" y="201165"/>
                  </a:lnTo>
                  <a:lnTo>
                    <a:pt x="3989652" y="0"/>
                  </a:lnTo>
                  <a:close/>
                </a:path>
              </a:pathLst>
            </a:custGeom>
            <a:solidFill>
              <a:srgbClr val="E9E9F2"/>
            </a:solidFill>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0" rIns="0" bIns="0" rtlCol="0">
            <a:spAutoFit/>
          </a:bodyPr>
          <a:lstStyle/>
          <a:p>
            <a:pPr marR="93345" algn="ctr">
              <a:lnSpc>
                <a:spcPts val="1895"/>
              </a:lnSpc>
            </a:pPr>
            <a:r>
              <a:rPr dirty="0"/>
              <a:t>Thank</a:t>
            </a:r>
            <a:r>
              <a:rPr spc="120" dirty="0"/>
              <a:t> </a:t>
            </a:r>
            <a:r>
              <a:rPr spc="-25" dirty="0"/>
              <a:t>You</a:t>
            </a:r>
          </a:p>
        </p:txBody>
      </p:sp>
      <p:grpSp>
        <p:nvGrpSpPr>
          <p:cNvPr id="8" name="object 8"/>
          <p:cNvGrpSpPr/>
          <p:nvPr/>
        </p:nvGrpSpPr>
        <p:grpSpPr>
          <a:xfrm>
            <a:off x="0" y="3329876"/>
            <a:ext cx="4608195" cy="126364"/>
            <a:chOff x="0" y="3329876"/>
            <a:chExt cx="4608195" cy="126364"/>
          </a:xfrm>
        </p:grpSpPr>
        <p:sp>
          <p:nvSpPr>
            <p:cNvPr id="9" name="object 9"/>
            <p:cNvSpPr/>
            <p:nvPr/>
          </p:nvSpPr>
          <p:spPr>
            <a:xfrm>
              <a:off x="0"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000000"/>
            </a:solidFill>
          </p:spPr>
          <p:txBody>
            <a:bodyPr wrap="square" lIns="0" tIns="0" rIns="0" bIns="0" rtlCol="0"/>
            <a:lstStyle/>
            <a:p>
              <a:endParaRPr/>
            </a:p>
          </p:txBody>
        </p:sp>
        <p:sp>
          <p:nvSpPr>
            <p:cNvPr id="10" name="object 10"/>
            <p:cNvSpPr/>
            <p:nvPr/>
          </p:nvSpPr>
          <p:spPr>
            <a:xfrm>
              <a:off x="2303995" y="3329876"/>
              <a:ext cx="2304415" cy="126364"/>
            </a:xfrm>
            <a:custGeom>
              <a:avLst/>
              <a:gdLst/>
              <a:ahLst/>
              <a:cxnLst/>
              <a:rect l="l" t="t" r="r" b="b"/>
              <a:pathLst>
                <a:path w="2304415" h="126364">
                  <a:moveTo>
                    <a:pt x="2303995" y="0"/>
                  </a:moveTo>
                  <a:lnTo>
                    <a:pt x="0" y="0"/>
                  </a:lnTo>
                  <a:lnTo>
                    <a:pt x="0" y="126123"/>
                  </a:lnTo>
                  <a:lnTo>
                    <a:pt x="2303995" y="126123"/>
                  </a:lnTo>
                  <a:lnTo>
                    <a:pt x="2303995"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685"/>
              </a:lnSpc>
            </a:pPr>
            <a:r>
              <a:rPr spc="-10" dirty="0"/>
              <a:t>Department</a:t>
            </a:r>
            <a:r>
              <a:rPr spc="20" dirty="0"/>
              <a:t> </a:t>
            </a:r>
            <a:r>
              <a:rPr dirty="0"/>
              <a:t>of</a:t>
            </a:r>
            <a:r>
              <a:rPr spc="20" dirty="0"/>
              <a:t> </a:t>
            </a:r>
            <a:r>
              <a:rPr spc="-10" dirty="0"/>
              <a:t>Information</a:t>
            </a:r>
            <a:r>
              <a:rPr spc="20" dirty="0"/>
              <a:t> </a:t>
            </a:r>
            <a:r>
              <a:rPr spc="-10" dirty="0"/>
              <a:t>and</a:t>
            </a:r>
            <a:r>
              <a:rPr spc="20" dirty="0"/>
              <a:t> </a:t>
            </a:r>
            <a:r>
              <a:rPr spc="-20" dirty="0"/>
              <a:t>Communication</a:t>
            </a:r>
            <a:r>
              <a:rPr spc="20" dirty="0"/>
              <a:t> </a:t>
            </a:r>
            <a:r>
              <a:rPr spc="-10" dirty="0"/>
              <a:t>Technology</a:t>
            </a:r>
          </a:p>
        </p:txBody>
      </p:sp>
      <p:sp>
        <p:nvSpPr>
          <p:cNvPr id="12" name="object 12"/>
          <p:cNvSpPr txBox="1"/>
          <p:nvPr/>
        </p:nvSpPr>
        <p:spPr>
          <a:xfrm>
            <a:off x="3121736" y="3344944"/>
            <a:ext cx="204470" cy="89768"/>
          </a:xfrm>
          <a:prstGeom prst="rect">
            <a:avLst/>
          </a:prstGeom>
        </p:spPr>
        <p:txBody>
          <a:bodyPr vert="horz" wrap="square" lIns="0" tIns="0" rIns="0" bIns="0" rtlCol="0" anchor="t">
            <a:spAutoFit/>
          </a:bodyPr>
          <a:lstStyle/>
          <a:p>
            <a:pPr marL="38100">
              <a:lnSpc>
                <a:spcPts val="685"/>
              </a:lnSpc>
            </a:pPr>
            <a:r>
              <a:rPr lang="en-US" sz="600" b="1" spc="75">
                <a:solidFill>
                  <a:srgbClr val="FFFFFF"/>
                </a:solidFill>
                <a:latin typeface="Arial"/>
                <a:cs typeface="Arial"/>
              </a:rPr>
              <a:t>12</a:t>
            </a:r>
            <a:endParaRPr lang="en-US" sz="600" b="1" spc="75" dirty="0">
              <a:solidFill>
                <a:srgbClr val="FFFFFF"/>
              </a:solidFill>
              <a:latin typeface="Arial"/>
              <a:cs typeface="Arial"/>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358</TotalTime>
  <Words>1045</Words>
  <Application>Microsoft Office PowerPoint</Application>
  <PresentationFormat>Custom</PresentationFormat>
  <Paragraphs>130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Sabon Next LT</vt:lpstr>
      <vt:lpstr>Tahoma</vt:lpstr>
      <vt:lpstr>Times New Roman</vt:lpstr>
      <vt:lpstr>Office Theme</vt:lpstr>
      <vt:lpstr>API NEWS SUMMARY</vt:lpstr>
      <vt:lpstr>Presentation 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SHREYA - 220968017 - MITMPL</cp:lastModifiedBy>
  <cp:revision>432</cp:revision>
  <dcterms:created xsi:type="dcterms:W3CDTF">2026-03-14T04:43:09Z</dcterms:created>
  <dcterms:modified xsi:type="dcterms:W3CDTF">2026-03-28T11:54:42Z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2024-03-04T00:00:00Z</vt:filetime>
  </property>
  <property fmtid="{D5CDD505-2E9C-101B-9397-08002B2CF9AE}" pid="3" name="Creator">
    <vt:lpwstr>LaTeX with Beamer class</vt:lpwstr>
  </property>
  <property fmtid="{D5CDD505-2E9C-101B-9397-08002B2CF9AE}" pid="4" name="LastSaved">
    <vt:filetime>2026-03-14T00:00:00Z</vt:filetime>
  </property>
  <property fmtid="{D5CDD505-2E9C-101B-9397-08002B2CF9AE}" pid="5" name="PTEX.Fullbanner">
    <vt:lpwstr>This is MiKTeX-pdfTeX 4.0.1 (1.40.21)</vt:lpwstr>
  </property>
  <property fmtid="{D5CDD505-2E9C-101B-9397-08002B2CF9AE}" pid="6" name="Producer">
    <vt:lpwstr>MiKTeX pdfTeX-1.40.21</vt:lpwstr>
  </property>
</Properties>
</file>